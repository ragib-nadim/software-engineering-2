
<file path=[Content_Types].xml><?xml version="1.0" encoding="utf-8"?>
<Types xmlns="http://schemas.openxmlformats.org/package/2006/content-types"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autoCompressPictures="0">
  <p:sldMasterIdLst>
    <p:sldMasterId id="2147483648" r:id="rId1"/>
  </p:sldMasterIdLst>
  <p:notesMasterIdLst>
    <p:notesMasterId r:id="rId4"/>
  </p:notesMasterIdLst>
  <p:sldIdLst>
    <p:sldId id="256" r:id="rId3"/>
    <p:sldId id="312" r:id="rId5"/>
    <p:sldId id="293" r:id="rId6"/>
    <p:sldId id="295" r:id="rId7"/>
    <p:sldId id="296" r:id="rId8"/>
    <p:sldId id="297" r:id="rId9"/>
    <p:sldId id="299" r:id="rId10"/>
    <p:sldId id="300" r:id="rId11"/>
    <p:sldId id="301" r:id="rId12"/>
    <p:sldId id="298" r:id="rId13"/>
    <p:sldId id="302" r:id="rId14"/>
    <p:sldId id="303" r:id="rId15"/>
    <p:sldId id="304" r:id="rId16"/>
    <p:sldId id="305" r:id="rId17"/>
    <p:sldId id="306" r:id="rId18"/>
    <p:sldId id="307" r:id="rId19"/>
    <p:sldId id="308" r:id="rId20"/>
    <p:sldId id="309" r:id="rId21"/>
    <p:sldId id="310" r:id="rId22"/>
    <p:sldId id="311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83" autoAdjust="0"/>
    <p:restoredTop sz="94660"/>
  </p:normalViewPr>
  <p:slideViewPr>
    <p:cSldViewPr snapToGrid="0" showGuides="1">
      <p:cViewPr varScale="1">
        <p:scale>
          <a:sx n="52" d="100"/>
          <a:sy n="52" d="100"/>
        </p:scale>
        <p:origin x="576" y="4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6" Type="http://schemas.openxmlformats.org/officeDocument/2006/relationships/tableStyles" Target="tableStyles.xml"/><Relationship Id="rId25" Type="http://schemas.openxmlformats.org/officeDocument/2006/relationships/viewProps" Target="viewProps.xml"/><Relationship Id="rId24" Type="http://schemas.openxmlformats.org/officeDocument/2006/relationships/presProps" Target="presProps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4.png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5.png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210FD6-79C5-4041-8E7A-89350618D070}" type="datetimeFigureOut">
              <a:rPr lang="en-GB" smtClean="0"/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E26CA59-B645-4A00-A667-3A942CDB8E2D}" type="slidenum">
              <a:rPr lang="en-GB" smtClean="0"/>
            </a:fld>
            <a:endParaRPr lang="en-GB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4FFDFDB9-D628-4A18-8BA7-33EF406917E6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1DDDB41-4229-47AF-BA03-C191A66FB94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C08422A-3B8F-4FAB-94E1-75E89E1391CC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7392D4-64E7-470C-9229-F729BA72710A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CD79C-F41C-4E95-A4BE-2712B8C4A412}" type="datetime1">
              <a:rPr lang="en-US" smtClean="0"/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AAE8F3-6A5D-412D-87FA-D951F64E80C1}" type="datetime1">
              <a:rPr lang="en-US" smtClean="0"/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0F486A-D265-402A-B6CD-5D626FC3EDC7}" type="datetime1">
              <a:rPr lang="en-US" smtClean="0"/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C7416B92-2D29-4309-8FD4-8EC023BBFD61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4484BAD-8657-4978-A2B2-B1BBE7089EFE}" type="datetime1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B11AF3-EEF6-43B0-9CB4-662539EFD2B2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071272FE-5A2D-492A-8166-5DAA8B18B7EA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46415B1-2572-4F4E-AFA0-B4063C44FA40}" type="datetime1">
              <a:rPr lang="en-US" smtClean="0"/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dirty="0"/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7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29920" indent="-30607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899795" indent="-26987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60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105" indent="-234315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89992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27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49999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799715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.xml"/><Relationship Id="rId8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6" Type="http://schemas.openxmlformats.org/officeDocument/2006/relationships/hyperlink" Target="https://scholar.google.com/citations?user=VqMvaIIAAAAJ&amp;hl=en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linkedin.com/in/m-mahmudul-hasan-93043a87/" TargetMode="External"/><Relationship Id="rId3" Type="http://schemas.openxmlformats.org/officeDocument/2006/relationships/image" Target="../media/image1.png"/><Relationship Id="rId2" Type="http://schemas.openxmlformats.org/officeDocument/2006/relationships/hyperlink" Target="https://www.researchgate.net/profile/M_Mahmudul_Hasan" TargetMode="External"/><Relationship Id="rId1" Type="http://schemas.openxmlformats.org/officeDocument/2006/relationships/hyperlink" Target="http://www.dit.hua.gr/~m.hasa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oleObject" Target="../embeddings/oleObject1.bin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5.png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wmf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4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16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" name="Subtitle 2"/>
          <p:cNvSpPr>
            <a:spLocks noGrp="1"/>
          </p:cNvSpPr>
          <p:nvPr>
            <p:ph type="body" idx="1"/>
          </p:nvPr>
        </p:nvSpPr>
        <p:spPr>
          <a:xfrm>
            <a:off x="768267" y="1009397"/>
            <a:ext cx="3078342" cy="480146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400">
                <a:solidFill>
                  <a:srgbClr val="FFFFFF"/>
                </a:solidFill>
              </a:rPr>
              <a:t>Software engineering (Undergraduate)</a:t>
            </a:r>
            <a:endParaRPr lang="en-US" sz="2400">
              <a:solidFill>
                <a:srgbClr val="FFFFFF"/>
              </a:solidFill>
            </a:endParaRPr>
          </a:p>
        </p:txBody>
      </p:sp>
      <p:sp>
        <p:nvSpPr>
          <p:cNvPr id="13" name="Rectangle 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5" name="Rectangle 9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7" name="Rectangle 11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3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 useBgFill="1">
        <p:nvSpPr>
          <p:cNvPr id="20" name="Rectangle 15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17"/>
          <p:cNvSpPr>
            <a:spLocks noGrp="1" noRot="1" noChangeAspect="1" noMove="1" noResize="1" noEditPoints="1" noAdjustHandles="1" noChangeArrowheads="1" noChangeShapeType="1" noTextEdit="1"/>
          </p:cNvSpPr>
          <p:nvPr/>
        </p:nvSpPr>
        <p:spPr>
          <a:xfrm>
            <a:off x="446534" y="457200"/>
            <a:ext cx="3703320" cy="5933365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2" name="Subtitle 2"/>
          <p:cNvSpPr txBox="1"/>
          <p:nvPr/>
        </p:nvSpPr>
        <p:spPr>
          <a:xfrm>
            <a:off x="768267" y="1009397"/>
            <a:ext cx="3078342" cy="480146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30607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8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629920" indent="-30607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6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2pPr>
            <a:lvl3pPr marL="899795" indent="-26987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4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3pPr>
            <a:lvl4pPr marL="1242060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4pPr>
            <a:lvl5pPr marL="1602105" indent="-234315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5pPr>
            <a:lvl6pPr marL="189992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6pPr>
            <a:lvl7pPr marL="220027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7pPr>
            <a:lvl8pPr marL="249999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8pPr>
            <a:lvl9pPr marL="2799715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Char char=""/>
              <a:defRPr sz="1200" kern="120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u="sng" cap="all" dirty="0">
                <a:solidFill>
                  <a:srgbClr val="FFFFFF"/>
                </a:solidFill>
              </a:rPr>
              <a:t>Course Name</a:t>
            </a:r>
            <a:br>
              <a:rPr lang="en-US" sz="2400" cap="all" dirty="0">
                <a:solidFill>
                  <a:srgbClr val="FFFFFF"/>
                </a:solidFill>
              </a:rPr>
            </a:br>
            <a:br>
              <a:rPr lang="en-US" sz="2400" cap="all" dirty="0">
                <a:solidFill>
                  <a:srgbClr val="FFFFFF"/>
                </a:solidFill>
              </a:rPr>
            </a:br>
            <a:r>
              <a:rPr lang="en-US" sz="2400" cap="all" dirty="0">
                <a:solidFill>
                  <a:srgbClr val="FFFFFF"/>
                </a:solidFill>
              </a:rPr>
              <a:t>software engineering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CSC 3114</a:t>
            </a:r>
            <a:endParaRPr lang="en-US" sz="2400" cap="all" dirty="0">
              <a:solidFill>
                <a:srgbClr val="FFFFFF"/>
              </a:solidFill>
            </a:endParaRPr>
          </a:p>
          <a:p>
            <a:pPr marL="0" indent="0" algn="ctr">
              <a:buFont typeface="Wingdings 2" panose="05020102010507070707" pitchFamily="18" charset="2"/>
              <a:buNone/>
            </a:pPr>
            <a:r>
              <a:rPr lang="en-US" sz="2400" cap="all" dirty="0">
                <a:solidFill>
                  <a:srgbClr val="FFFFFF"/>
                </a:solidFill>
              </a:rPr>
              <a:t> (Undergraduate)</a:t>
            </a:r>
            <a:endParaRPr lang="en-US" sz="2400" cap="all" dirty="0">
              <a:solidFill>
                <a:srgbClr val="FFFFFF"/>
              </a:solidFill>
            </a:endParaRPr>
          </a:p>
        </p:txBody>
      </p:sp>
      <p:sp>
        <p:nvSpPr>
          <p:cNvPr id="23" name="Title 1"/>
          <p:cNvSpPr txBox="1"/>
          <p:nvPr/>
        </p:nvSpPr>
        <p:spPr>
          <a:xfrm>
            <a:off x="4471587" y="1005840"/>
            <a:ext cx="7181903" cy="1383399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 lnSpcReduction="100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3000" dirty="0">
                <a:solidFill>
                  <a:srgbClr val="C00000"/>
                </a:solidFill>
              </a:rPr>
              <a:t>Chapter 1</a:t>
            </a:r>
            <a:br>
              <a:rPr lang="en-US" sz="3000" dirty="0">
                <a:solidFill>
                  <a:srgbClr val="C00000"/>
                </a:solidFill>
              </a:rPr>
            </a:br>
            <a:br>
              <a:rPr lang="en-US" sz="3000" dirty="0">
                <a:solidFill>
                  <a:schemeClr val="tx2"/>
                </a:solidFill>
              </a:rPr>
            </a:br>
            <a:r>
              <a:rPr lang="en-US" sz="3000" dirty="0">
                <a:solidFill>
                  <a:schemeClr val="tx2"/>
                </a:solidFill>
              </a:rPr>
              <a:t>software &amp; software engineering</a:t>
            </a:r>
            <a:endParaRPr lang="en-US" sz="3000" dirty="0">
              <a:solidFill>
                <a:schemeClr val="tx2"/>
              </a:solidFill>
            </a:endParaRPr>
          </a:p>
        </p:txBody>
      </p:sp>
      <p:sp>
        <p:nvSpPr>
          <p:cNvPr id="24" name="Title 1"/>
          <p:cNvSpPr txBox="1"/>
          <p:nvPr/>
        </p:nvSpPr>
        <p:spPr>
          <a:xfrm>
            <a:off x="4596388" y="3752174"/>
            <a:ext cx="6092708" cy="14268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2800" b="0" kern="1200" cap="all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r>
              <a:rPr lang="en-US" sz="2400" dirty="0">
                <a:solidFill>
                  <a:srgbClr val="7030A0"/>
                </a:solidFill>
              </a:rPr>
              <a:t>M. Mahmudul </a:t>
            </a:r>
            <a:r>
              <a:rPr lang="en-US" sz="2400" dirty="0" err="1">
                <a:solidFill>
                  <a:srgbClr val="7030A0"/>
                </a:solidFill>
              </a:rPr>
              <a:t>hasan</a:t>
            </a:r>
            <a:endParaRPr lang="en-US" sz="2400" dirty="0">
              <a:solidFill>
                <a:srgbClr val="7030A0"/>
              </a:solidFill>
            </a:endParaRPr>
          </a:p>
          <a:p>
            <a:r>
              <a:rPr lang="en-US" sz="2000" dirty="0">
                <a:solidFill>
                  <a:schemeClr val="tx1"/>
                </a:solidFill>
              </a:rPr>
              <a:t>Assistant Professor, CS, AIUB</a:t>
            </a:r>
            <a:endParaRPr lang="en-US" sz="2000" dirty="0">
              <a:solidFill>
                <a:schemeClr val="tx1"/>
              </a:solidFill>
            </a:endParaRPr>
          </a:p>
          <a:p>
            <a:r>
              <a:rPr lang="en-US" sz="2300" cap="none" dirty="0">
                <a:hlinkClick r:id="rId1"/>
              </a:rPr>
              <a:t>http://www.dit.hua.gr/~m.hasan</a:t>
            </a:r>
            <a:r>
              <a:rPr lang="en-US" sz="2300" cap="none" dirty="0"/>
              <a:t>   </a:t>
            </a:r>
            <a:endParaRPr lang="en-US" sz="2300" cap="none" dirty="0"/>
          </a:p>
        </p:txBody>
      </p:sp>
      <p:pic>
        <p:nvPicPr>
          <p:cNvPr id="25" name="Picture 24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5936" y="5191026"/>
            <a:ext cx="775212" cy="762000"/>
          </a:xfrm>
          <a:prstGeom prst="rect">
            <a:avLst/>
          </a:prstGeom>
        </p:spPr>
      </p:pic>
      <p:pic>
        <p:nvPicPr>
          <p:cNvPr id="26" name="Picture 25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9933" y="5210199"/>
            <a:ext cx="1966006" cy="641961"/>
          </a:xfrm>
          <a:prstGeom prst="rect">
            <a:avLst/>
          </a:prstGeom>
        </p:spPr>
      </p:pic>
      <p:pic>
        <p:nvPicPr>
          <p:cNvPr id="27" name="Picture 26">
            <a:hlinkClick r:id="rId6"/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58975" y="5279923"/>
            <a:ext cx="2465593" cy="542310"/>
          </a:xfrm>
          <a:prstGeom prst="rect">
            <a:avLst/>
          </a:prstGeom>
        </p:spPr>
      </p:pic>
      <p:cxnSp>
        <p:nvCxnSpPr>
          <p:cNvPr id="28" name="Straight Connector 27"/>
          <p:cNvCxnSpPr/>
          <p:nvPr/>
        </p:nvCxnSpPr>
        <p:spPr>
          <a:xfrm>
            <a:off x="4350774" y="796413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4340942" y="2969341"/>
            <a:ext cx="7329949" cy="0"/>
          </a:xfrm>
          <a:prstGeom prst="line">
            <a:avLst/>
          </a:prstGeom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Why system fails?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631" y="2131518"/>
            <a:ext cx="11051177" cy="3474719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The system fails to meet the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business requirements </a:t>
            </a:r>
            <a:r>
              <a:rPr lang="en-GB" altLang="en-US" sz="2000" dirty="0">
                <a:latin typeface="+mj-lt"/>
              </a:rPr>
              <a:t>for which it was developed. The system is either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abandoned</a:t>
            </a:r>
            <a:r>
              <a:rPr lang="en-GB" altLang="en-US" sz="2000" dirty="0">
                <a:latin typeface="+mj-lt"/>
              </a:rPr>
              <a:t> or </a:t>
            </a:r>
            <a:r>
              <a:rPr lang="en-GB" altLang="en-US" sz="2000" dirty="0">
                <a:solidFill>
                  <a:srgbClr val="7030A0"/>
                </a:solidFill>
                <a:latin typeface="+mj-lt"/>
              </a:rPr>
              <a:t>expensive adaptive maintenance </a:t>
            </a:r>
            <a:r>
              <a:rPr lang="en-GB" altLang="en-US" sz="2000" dirty="0">
                <a:latin typeface="+mj-lt"/>
              </a:rPr>
              <a:t>is undertaken.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There are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performance shortcomings </a:t>
            </a:r>
            <a:r>
              <a:rPr lang="en-GB" altLang="en-US" sz="2000" dirty="0">
                <a:latin typeface="+mj-lt"/>
              </a:rPr>
              <a:t>in the system, which make it inadequate for the users’ needs. Again, it is either abandoned or amended incurring extra costs.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Errors</a:t>
            </a:r>
            <a:r>
              <a:rPr lang="en-GB" altLang="en-US" sz="2000" dirty="0">
                <a:latin typeface="+mj-lt"/>
              </a:rPr>
              <a:t> appear in the developed system causing unexpected problems.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Patches </a:t>
            </a:r>
            <a:r>
              <a:rPr lang="en-GB" altLang="en-US" sz="2000" dirty="0">
                <a:latin typeface="+mj-lt"/>
              </a:rPr>
              <a:t>have to be applied at extra cost.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Users reject </a:t>
            </a:r>
            <a:r>
              <a:rPr lang="en-GB" altLang="en-US" sz="2000" dirty="0">
                <a:latin typeface="+mj-lt"/>
              </a:rPr>
              <a:t>the implemented system, lack of involvement in its development or lack of commitment to it.</a:t>
            </a:r>
            <a:endParaRPr lang="en-GB" altLang="en-US" sz="20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GB" altLang="en-US" sz="2000" dirty="0">
                <a:latin typeface="+mj-lt"/>
              </a:rPr>
              <a:t>Systems are initially accepted but over time </a:t>
            </a:r>
            <a:r>
              <a:rPr lang="en-GB" altLang="en-US" sz="2000" dirty="0">
                <a:solidFill>
                  <a:srgbClr val="C00000"/>
                </a:solidFill>
                <a:latin typeface="+mj-lt"/>
              </a:rPr>
              <a:t>become un-maintainable </a:t>
            </a:r>
            <a:r>
              <a:rPr lang="en-GB" altLang="en-US" sz="2000" dirty="0">
                <a:latin typeface="+mj-lt"/>
              </a:rPr>
              <a:t>and so pass into disuse.</a:t>
            </a:r>
            <a:endParaRPr lang="en-GB" sz="2000" dirty="0">
              <a:solidFill>
                <a:srgbClr val="C00000"/>
              </a:solidFill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766177" y="605119"/>
            <a:ext cx="242047" cy="685800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Slide-</a:t>
            </a:r>
            <a:fld id="{D57F1E4F-1CFF-5643-939E-217C01CDF565}" type="slidenum">
              <a:rPr kumimoji="0" lang="en-US" sz="1400" b="1" i="0" u="none" strike="noStrike" kern="1200" cap="none" spc="0" normalizeH="0" baseline="0" noProof="0" smtClean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fld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Scope of software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3261" y="1841864"/>
            <a:ext cx="10652865" cy="3273476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The aim of Software Engineering is to solve Software Crisis: </a:t>
            </a:r>
            <a:endParaRPr lang="en-US" altLang="ko-KR" sz="2000" dirty="0"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Late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Over budget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 lvl="1">
              <a:buFont typeface="Wingdings" panose="05000000000000000000" pitchFamily="2" charset="2"/>
              <a:buChar char="§"/>
            </a:pPr>
            <a:r>
              <a:rPr lang="en-US" altLang="ko-KR" sz="2000" dirty="0">
                <a:solidFill>
                  <a:srgbClr val="FF0000"/>
                </a:solidFill>
                <a:latin typeface="+mj-lt"/>
                <a:ea typeface="굴림" pitchFamily="34" charset="-127"/>
              </a:rPr>
              <a:t>Low quality with lots of faults</a:t>
            </a:r>
            <a:endParaRPr lang="en-US" altLang="ko-KR" sz="2000" dirty="0">
              <a:solidFill>
                <a:srgbClr val="FF0000"/>
              </a:solidFill>
              <a:latin typeface="+mj-lt"/>
              <a:ea typeface="굴림" pitchFamily="34" charset="-127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ko-KR" sz="2000" dirty="0">
                <a:latin typeface="+mj-lt"/>
                <a:ea typeface="굴림" pitchFamily="34" charset="-127"/>
              </a:rPr>
              <a:t>Software crisis is still present over 35 years later!</a:t>
            </a:r>
            <a:endParaRPr lang="en-US" altLang="zh-TW" sz="2000" dirty="0">
              <a:latin typeface="+mj-lt"/>
              <a:ea typeface="PMingLiU" pitchFamily="18" charset="-120"/>
            </a:endParaRPr>
          </a:p>
        </p:txBody>
      </p:sp>
      <p:sp>
        <p:nvSpPr>
          <p:cNvPr id="9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characteristics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4070" y="1928753"/>
            <a:ext cx="11186738" cy="4298315"/>
          </a:xfrm>
        </p:spPr>
        <p:txBody>
          <a:bodyPr>
            <a:no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A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logical</a:t>
            </a:r>
            <a:r>
              <a:rPr lang="en-US" altLang="zh-TW" sz="2200" dirty="0">
                <a:latin typeface="+mj-lt"/>
              </a:rPr>
              <a:t> (intangible) rather than a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physical</a:t>
            </a:r>
            <a:r>
              <a:rPr lang="en-US" altLang="zh-TW" sz="2200" dirty="0">
                <a:latin typeface="+mj-lt"/>
              </a:rPr>
              <a:t> system element 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Being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developed or engineered</a:t>
            </a:r>
            <a:r>
              <a:rPr lang="en-US" altLang="zh-TW" sz="2200" dirty="0">
                <a:latin typeface="+mj-lt"/>
              </a:rPr>
              <a:t>, but not being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manufactured</a:t>
            </a:r>
            <a:endParaRPr lang="en-US" altLang="zh-TW" sz="2200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Software cost concentrating in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engineering</a:t>
            </a:r>
            <a:r>
              <a:rPr lang="en-US" altLang="zh-TW" sz="2200" dirty="0">
                <a:latin typeface="+mj-lt"/>
              </a:rPr>
              <a:t>, not in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materials</a:t>
            </a:r>
            <a:endParaRPr lang="en-US" altLang="zh-TW" sz="2200" dirty="0">
              <a:solidFill>
                <a:srgbClr val="FF0000"/>
              </a:solidFill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Software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does not “wearing out”</a:t>
            </a:r>
            <a:r>
              <a:rPr lang="en-US" altLang="zh-TW" sz="2200" dirty="0">
                <a:latin typeface="+mj-lt"/>
              </a:rPr>
              <a:t> but “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deteriorating</a:t>
            </a:r>
            <a:r>
              <a:rPr lang="en-US" altLang="zh-TW" sz="2200" dirty="0">
                <a:latin typeface="+mj-lt"/>
              </a:rPr>
              <a:t>”(not destroyed after lifetime like hardware, but backdated by </a:t>
            </a:r>
            <a:r>
              <a:rPr lang="en-US" altLang="zh-TW" sz="2200" dirty="0">
                <a:solidFill>
                  <a:srgbClr val="00B050"/>
                </a:solidFill>
                <a:latin typeface="+mj-lt"/>
              </a:rPr>
              <a:t>aging </a:t>
            </a:r>
            <a:r>
              <a:rPr lang="en-US" altLang="zh-TW" sz="2200" dirty="0">
                <a:latin typeface="+mj-lt"/>
              </a:rPr>
              <a:t>that needs to update)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ea typeface="PMingLiU" pitchFamily="18" charset="-120"/>
              </a:rPr>
              <a:t>Software is a ‘</a:t>
            </a:r>
            <a:r>
              <a:rPr lang="en-US" altLang="zh-TW" sz="2200" dirty="0">
                <a:solidFill>
                  <a:srgbClr val="00B050"/>
                </a:solidFill>
                <a:ea typeface="PMingLiU" pitchFamily="18" charset="-120"/>
              </a:rPr>
              <a:t>differentiator</a:t>
            </a:r>
            <a:r>
              <a:rPr lang="en-US" altLang="zh-TW" sz="2200" dirty="0">
                <a:ea typeface="PMingLiU" pitchFamily="18" charset="-120"/>
              </a:rPr>
              <a:t>’ (different sub-systems, e.g. </a:t>
            </a:r>
            <a:r>
              <a:rPr lang="en-GB" sz="2200" dirty="0">
                <a:solidFill>
                  <a:srgbClr val="0070C0"/>
                </a:solidFill>
              </a:rPr>
              <a:t>cashier’s workstation in a supermarket</a:t>
            </a:r>
            <a:r>
              <a:rPr lang="en-US" altLang="zh-TW" sz="2200" dirty="0">
                <a:ea typeface="PMingLiU" pitchFamily="18" charset="-120"/>
              </a:rPr>
              <a:t>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Without “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spare parts</a:t>
            </a:r>
            <a:r>
              <a:rPr lang="en-US" altLang="zh-TW" sz="2200" dirty="0">
                <a:latin typeface="+mj-lt"/>
              </a:rPr>
              <a:t>” in software maintenance (no extra useless features in software)</a:t>
            </a:r>
            <a:endParaRPr lang="en-US" altLang="zh-TW" sz="2200" dirty="0">
              <a:latin typeface="+mj-lt"/>
            </a:endParaRPr>
          </a:p>
          <a:p>
            <a:pPr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</a:rPr>
              <a:t>Most software continuing to be custom built (based on the requirements)</a:t>
            </a:r>
            <a:endParaRPr lang="en-US" altLang="zh-TW" sz="2200" dirty="0">
              <a:latin typeface="+mj-lt"/>
            </a:endParaRPr>
          </a:p>
        </p:txBody>
      </p:sp>
      <p:sp>
        <p:nvSpPr>
          <p:cNvPr id="5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Goal: Computer science   vs.   Software engineering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51010" y="2259876"/>
            <a:ext cx="10652865" cy="2338250"/>
          </a:xfrm>
        </p:spPr>
        <p:txBody>
          <a:bodyPr>
            <a:normAutofit/>
          </a:bodyPr>
          <a:lstStyle/>
          <a:p>
            <a:r>
              <a:rPr lang="en-US" altLang="zh-TW" sz="2400" dirty="0">
                <a:solidFill>
                  <a:srgbClr val="C00000"/>
                </a:solidFill>
                <a:latin typeface="Bell MT" pitchFamily="18" charset="0"/>
                <a:ea typeface="PMingLiU" pitchFamily="18" charset="-120"/>
              </a:rPr>
              <a:t>CS: </a:t>
            </a:r>
            <a:r>
              <a:rPr lang="en-US" altLang="zh-TW" sz="2400" dirty="0">
                <a:solidFill>
                  <a:srgbClr val="002060"/>
                </a:solidFill>
                <a:latin typeface="Bell MT" pitchFamily="18" charset="0"/>
                <a:ea typeface="PMingLiU" pitchFamily="18" charset="-120"/>
              </a:rPr>
              <a:t>to investigate a variety of ways to produce S/W, some good and some bad</a:t>
            </a:r>
            <a:endParaRPr lang="en-US" altLang="zh-TW" sz="2400" dirty="0">
              <a:solidFill>
                <a:srgbClr val="002060"/>
              </a:solidFill>
              <a:latin typeface="Bell MT" pitchFamily="18" charset="0"/>
              <a:ea typeface="PMingLiU" pitchFamily="18" charset="-120"/>
            </a:endParaRPr>
          </a:p>
          <a:p>
            <a:r>
              <a:rPr lang="en-US" altLang="zh-TW" sz="2400" dirty="0">
                <a:solidFill>
                  <a:srgbClr val="C00000"/>
                </a:solidFill>
                <a:latin typeface="Bell MT" pitchFamily="18" charset="0"/>
                <a:ea typeface="PMingLiU" pitchFamily="18" charset="-120"/>
              </a:rPr>
              <a:t>SE: </a:t>
            </a:r>
            <a:r>
              <a:rPr lang="en-US" altLang="zh-TW" sz="2400" dirty="0">
                <a:solidFill>
                  <a:srgbClr val="002060"/>
                </a:solidFill>
                <a:latin typeface="Bell MT" pitchFamily="18" charset="0"/>
                <a:ea typeface="PMingLiU" pitchFamily="18" charset="-120"/>
              </a:rPr>
              <a:t>to be interested in only those techniques that make sound economic sense</a:t>
            </a:r>
            <a:endParaRPr lang="en-US" altLang="zh-TW" sz="2400" dirty="0">
              <a:solidFill>
                <a:srgbClr val="002060"/>
              </a:solidFill>
              <a:latin typeface="Bell MT" pitchFamily="18" charset="0"/>
              <a:ea typeface="PMingLiU" pitchFamily="18" charset="-12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7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development life cycle (SDLC)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2024743"/>
            <a:ext cx="10652865" cy="4193177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GB" sz="2000" dirty="0">
                <a:latin typeface="+mj-lt"/>
              </a:rPr>
              <a:t>A structured set of activities required to develop a software system</a:t>
            </a:r>
            <a:endParaRPr lang="en-US" sz="20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The way we produce software, including:</a:t>
            </a:r>
            <a:br>
              <a:rPr lang="en-US" altLang="zh-TW" sz="2000" dirty="0">
                <a:latin typeface="+mj-lt"/>
                <a:ea typeface="PMingLiU" pitchFamily="18" charset="-120"/>
              </a:rPr>
            </a:b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Requirements Analysis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Designing/Modeling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Coding /Development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Testing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Implementation/Integration phase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Operation/Maintenance</a:t>
            </a:r>
            <a:endParaRPr lang="en-US" altLang="zh-TW" sz="2000" dirty="0">
              <a:latin typeface="+mj-lt"/>
              <a:ea typeface="PMingLiU" pitchFamily="18" charset="-120"/>
            </a:endParaRPr>
          </a:p>
          <a:p>
            <a:pPr marL="457200" indent="-457200">
              <a:lnSpc>
                <a:spcPct val="90000"/>
              </a:lnSpc>
              <a:buFont typeface="+mj-lt"/>
              <a:buAutoNum type="arabicPeriod"/>
              <a:tabLst>
                <a:tab pos="1260475" algn="l"/>
              </a:tabLst>
            </a:pPr>
            <a:r>
              <a:rPr lang="en-US" altLang="zh-TW" sz="2000" dirty="0">
                <a:latin typeface="+mj-lt"/>
                <a:ea typeface="PMingLiU" pitchFamily="18" charset="-120"/>
              </a:rPr>
              <a:t>Documentation</a:t>
            </a: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Good &amp; bad software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1933303"/>
            <a:ext cx="10652865" cy="4545873"/>
          </a:xfrm>
        </p:spPr>
        <p:txBody>
          <a:bodyPr>
            <a:noAutofit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Good software is maintained—bad software is discarded</a:t>
            </a:r>
            <a:br>
              <a:rPr lang="en-US" altLang="zh-TW" sz="2200" dirty="0">
                <a:latin typeface="+mj-lt"/>
                <a:ea typeface="PMingLiU" pitchFamily="18" charset="-120"/>
              </a:rPr>
            </a:br>
            <a:endParaRPr lang="en-US" altLang="zh-TW" sz="22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200" dirty="0">
                <a:latin typeface="+mj-lt"/>
                <a:ea typeface="PMingLiU" pitchFamily="18" charset="-120"/>
              </a:rPr>
              <a:t> Different types of maintenance</a:t>
            </a:r>
            <a:endParaRPr lang="en-US" altLang="zh-TW" sz="2200" dirty="0"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Corrective maintenance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Modification to fix a problem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  Enhancement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80%]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latin typeface="+mj-lt"/>
                <a:ea typeface="PMingLiU" pitchFamily="18" charset="-120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Perfective maintenance (modification to improve usability,…)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60%]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Adaptive maintenance (modification to keep up-to-date) </a:t>
            </a:r>
            <a:r>
              <a:rPr lang="en-US" altLang="zh-TW" sz="2200" dirty="0">
                <a:solidFill>
                  <a:srgbClr val="002060"/>
                </a:solidFill>
                <a:latin typeface="+mj-lt"/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latin typeface="+mj-lt"/>
              <a:ea typeface="PMingLiU" pitchFamily="18" charset="-120"/>
            </a:endParaRPr>
          </a:p>
          <a:p>
            <a:pPr lvl="2">
              <a:lnSpc>
                <a:spcPct val="90000"/>
              </a:lnSpc>
              <a:buFontTx/>
              <a:buChar char="-"/>
            </a:pPr>
            <a:r>
              <a:rPr lang="en-US" altLang="zh-TW" sz="22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Preventive maintenance (modification to avoid any future error) </a:t>
            </a:r>
            <a:r>
              <a:rPr lang="en-US" altLang="zh-TW" sz="2200" dirty="0">
                <a:solidFill>
                  <a:srgbClr val="002060"/>
                </a:solidFill>
                <a:ea typeface="PMingLiU" pitchFamily="18" charset="-120"/>
              </a:rPr>
              <a:t>[about 20%]</a:t>
            </a:r>
            <a:endParaRPr lang="en-US" altLang="zh-TW" sz="2200" dirty="0">
              <a:solidFill>
                <a:srgbClr val="002060"/>
              </a:solidFill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- 6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Faults in software development phases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7947" y="1998618"/>
            <a:ext cx="10953310" cy="4519748"/>
          </a:xfrm>
        </p:spPr>
        <p:txBody>
          <a:bodyPr>
            <a:normAutofit fontScale="85000" lnSpcReduction="20000"/>
          </a:bodyPr>
          <a:lstStyle/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zh-TW" altLang="en-US" sz="2600" dirty="0">
                <a:latin typeface="+mj-lt"/>
                <a:ea typeface="PMingLiU" pitchFamily="18" charset="-120"/>
              </a:rPr>
              <a:t>60 </a:t>
            </a:r>
            <a:r>
              <a:rPr lang="en-US" altLang="zh-TW" sz="2600" dirty="0">
                <a:latin typeface="+mj-lt"/>
                <a:ea typeface="PMingLiU" pitchFamily="18" charset="-120"/>
              </a:rPr>
              <a:t>to 70 percent of faults are specification and design  faults</a:t>
            </a: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Kelly, </a:t>
            </a:r>
            <a:r>
              <a:rPr lang="en-US" altLang="zh-TW" sz="2600" dirty="0" err="1">
                <a:solidFill>
                  <a:srgbClr val="0070C0"/>
                </a:solidFill>
                <a:latin typeface="+mj-lt"/>
                <a:ea typeface="PMingLiU" pitchFamily="18" charset="-120"/>
              </a:rPr>
              <a:t>Sherif</a:t>
            </a: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, and Hops [1992]</a:t>
            </a:r>
            <a:endParaRPr lang="en-US" altLang="zh-TW" sz="2600" dirty="0">
              <a:solidFill>
                <a:srgbClr val="0070C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1.9 faults per page of specification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0.9 faults per page of design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0.3 faults per page of code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</a:pPr>
            <a:endParaRPr lang="en-US" altLang="zh-TW" sz="2600" dirty="0"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r>
              <a:rPr lang="en-US" altLang="zh-TW" sz="2600" dirty="0">
                <a:solidFill>
                  <a:srgbClr val="0070C0"/>
                </a:solidFill>
                <a:latin typeface="+mj-lt"/>
                <a:ea typeface="PMingLiU" pitchFamily="18" charset="-120"/>
              </a:rPr>
              <a:t>Data of Bhandari et al. [1994]</a:t>
            </a:r>
            <a:endParaRPr lang="en-US" altLang="zh-TW" sz="2600" dirty="0">
              <a:solidFill>
                <a:srgbClr val="0070C0"/>
              </a:solidFill>
              <a:latin typeface="+mj-lt"/>
              <a:ea typeface="PMingLiU" pitchFamily="18" charset="-120"/>
            </a:endParaRPr>
          </a:p>
          <a:p>
            <a:pPr>
              <a:lnSpc>
                <a:spcPct val="90000"/>
              </a:lnSpc>
              <a:buNone/>
            </a:pPr>
            <a:r>
              <a:rPr lang="en-US" altLang="zh-TW" sz="2600" b="1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      </a:t>
            </a:r>
            <a:r>
              <a:rPr lang="en-US" altLang="zh-TW" sz="2600" dirty="0">
                <a:latin typeface="+mj-lt"/>
                <a:ea typeface="PMingLiU" pitchFamily="18" charset="-120"/>
              </a:rPr>
              <a:t>Faults at end of the design phase of the new version of the product</a:t>
            </a:r>
            <a:endParaRPr lang="en-US" altLang="zh-TW" sz="2600" dirty="0"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13% of faults from previous version of product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16% of faults in new specifications</a:t>
            </a:r>
            <a:endParaRPr lang="en-US" altLang="zh-TW" sz="2600" dirty="0">
              <a:solidFill>
                <a:srgbClr val="C00000"/>
              </a:solidFill>
              <a:latin typeface="+mj-lt"/>
              <a:ea typeface="PMingLiU" pitchFamily="18" charset="-120"/>
            </a:endParaRPr>
          </a:p>
          <a:p>
            <a:pPr lvl="1">
              <a:lnSpc>
                <a:spcPct val="90000"/>
              </a:lnSpc>
            </a:pPr>
            <a:r>
              <a:rPr lang="en-US" altLang="zh-TW" sz="2600" dirty="0">
                <a:solidFill>
                  <a:srgbClr val="C00000"/>
                </a:solidFill>
                <a:latin typeface="+mj-lt"/>
                <a:ea typeface="PMingLiU" pitchFamily="18" charset="-120"/>
              </a:rPr>
              <a:t>71% of faults in new design</a:t>
            </a: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- 7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  <a:endParaRPr lang="en-GB" dirty="0"/>
          </a:p>
        </p:txBody>
      </p:sp>
      <p:graphicFrame>
        <p:nvGraphicFramePr>
          <p:cNvPr id="2051" name="Object 0"/>
          <p:cNvGraphicFramePr>
            <a:graphicFrameLocks noChangeAspect="1"/>
          </p:cNvGraphicFramePr>
          <p:nvPr/>
        </p:nvGraphicFramePr>
        <p:xfrm>
          <a:off x="1367245" y="2011680"/>
          <a:ext cx="9318172" cy="456982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11" name="Photo Editor Photo" r:id="rId1" imgW="4591050" imgH="4667250" progId="">
                  <p:embed/>
                </p:oleObj>
              </mc:Choice>
              <mc:Fallback>
                <p:oleObj name="Photo Editor Photo" r:id="rId1" imgW="4591050" imgH="4667250" progId="">
                  <p:embed/>
                  <p:pic>
                    <p:nvPicPr>
                      <p:cNvPr id="0" name="Picture 4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367245" y="2011680"/>
                        <a:ext cx="9318172" cy="4569821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- 8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detection &amp; correction of a fault</a:t>
            </a:r>
            <a:endParaRPr lang="en-GB" dirty="0"/>
          </a:p>
        </p:txBody>
      </p:sp>
      <p:graphicFrame>
        <p:nvGraphicFramePr>
          <p:cNvPr id="1026" name="Object 4"/>
          <p:cNvGraphicFramePr>
            <a:graphicFrameLocks noChangeAspect="1"/>
          </p:cNvGraphicFramePr>
          <p:nvPr/>
        </p:nvGraphicFramePr>
        <p:xfrm>
          <a:off x="1038496" y="2022566"/>
          <a:ext cx="10182497" cy="458724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86" name="Photo Editor Photo" r:id="rId1" imgW="4810125" imgH="3733800" progId="">
                  <p:embed/>
                </p:oleObj>
              </mc:Choice>
              <mc:Fallback>
                <p:oleObj name="Photo Editor Photo" r:id="rId1" imgW="4810125" imgH="3733800" progId="">
                  <p:embed/>
                  <p:pic>
                    <p:nvPicPr>
                      <p:cNvPr id="0" name="Picture 4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2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038496" y="2022566"/>
                        <a:ext cx="10182497" cy="458724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12700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Cost of change</a:t>
            </a:r>
            <a:endParaRPr lang="en-GB" dirty="0"/>
          </a:p>
        </p:txBody>
      </p:sp>
      <p:pic>
        <p:nvPicPr>
          <p:cNvPr id="5" name="Picture 3"/>
          <p:cNvPicPr>
            <a:picLocks noChangeArrowheads="1"/>
          </p:cNvPicPr>
          <p:nvPr/>
        </p:nvPicPr>
        <p:blipFill>
          <a:blip r:embed="rId1"/>
          <a:srcRect/>
          <a:stretch>
            <a:fillRect/>
          </a:stretch>
        </p:blipFill>
        <p:spPr bwMode="auto">
          <a:xfrm>
            <a:off x="3043646" y="2161903"/>
            <a:ext cx="5524500" cy="4157663"/>
          </a:xfrm>
          <a:prstGeom prst="rect">
            <a:avLst/>
          </a:prstGeom>
          <a:noFill/>
          <a:ln w="12700">
            <a:noFill/>
            <a:miter lim="800000"/>
            <a:headEnd/>
            <a:tailEnd/>
          </a:ln>
        </p:spPr>
      </p:pic>
      <p:sp>
        <p:nvSpPr>
          <p:cNvPr id="7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Product bathtub curve model</a:t>
            </a:r>
            <a:endParaRPr lang="en-GB" dirty="0"/>
          </a:p>
        </p:txBody>
      </p:sp>
      <p:sp>
        <p:nvSpPr>
          <p:cNvPr id="6" name="Rectangle 5"/>
          <p:cNvSpPr/>
          <p:nvPr/>
        </p:nvSpPr>
        <p:spPr>
          <a:xfrm>
            <a:off x="1965960" y="2003426"/>
            <a:ext cx="7620000" cy="113877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None/>
              <a:defRPr/>
            </a:pPr>
            <a:endParaRPr lang="en-US" altLang="zh-TW" sz="2000" dirty="0">
              <a:latin typeface="Bell MT" pitchFamily="18" charset="0"/>
            </a:endParaRPr>
          </a:p>
          <a:p>
            <a:pPr>
              <a:buFont typeface="Wingdings" panose="05000000000000000000" pitchFamily="2" charset="2"/>
              <a:buChar char="q"/>
            </a:pPr>
            <a:endParaRPr lang="en-US" altLang="zh-TW" sz="2400" dirty="0">
              <a:solidFill>
                <a:srgbClr val="002060"/>
              </a:solidFill>
              <a:latin typeface="Bell MT" pitchFamily="18" charset="0"/>
              <a:ea typeface="PMingLiU" pitchFamily="18" charset="-120"/>
            </a:endParaRPr>
          </a:p>
          <a:p>
            <a:pPr lvl="1"/>
            <a:endParaRPr lang="en-US" altLang="zh-TW" sz="2400" dirty="0">
              <a:latin typeface="Bell MT" pitchFamily="18" charset="0"/>
              <a:ea typeface="PMingLiU" pitchFamily="18" charset="-120"/>
            </a:endParaRPr>
          </a:p>
        </p:txBody>
      </p:sp>
      <p:grpSp>
        <p:nvGrpSpPr>
          <p:cNvPr id="7" name="Group 14"/>
          <p:cNvGrpSpPr/>
          <p:nvPr/>
        </p:nvGrpSpPr>
        <p:grpSpPr bwMode="auto">
          <a:xfrm>
            <a:off x="2499360" y="1927225"/>
            <a:ext cx="6554787" cy="4591141"/>
            <a:chOff x="743" y="687"/>
            <a:chExt cx="4129" cy="3106"/>
          </a:xfrm>
        </p:grpSpPr>
        <p:sp>
          <p:nvSpPr>
            <p:cNvPr id="8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Arc 5"/>
            <p:cNvSpPr/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1784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2" name="Arc 7"/>
            <p:cNvSpPr/>
            <p:nvPr/>
          </p:nvSpPr>
          <p:spPr bwMode="auto">
            <a:xfrm flipV="1">
              <a:off x="3672" y="1192"/>
              <a:ext cx="1016" cy="1888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3" name="Text Box 8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4" name="Text Box 9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5" name="Text Box 10"/>
            <p:cNvSpPr txBox="1">
              <a:spLocks noChangeArrowheads="1"/>
            </p:cNvSpPr>
            <p:nvPr/>
          </p:nvSpPr>
          <p:spPr bwMode="auto">
            <a:xfrm>
              <a:off x="1462" y="687"/>
              <a:ext cx="1523" cy="634"/>
            </a:xfrm>
            <a:prstGeom prst="rect">
              <a:avLst/>
            </a:prstGeom>
            <a:solidFill>
              <a:srgbClr val="FFFF99"/>
            </a:soli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“Infant Mortality” --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design or 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manufacturing defects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6" name="Line 11"/>
            <p:cNvSpPr>
              <a:spLocks noChangeShapeType="1"/>
            </p:cNvSpPr>
            <p:nvPr/>
          </p:nvSpPr>
          <p:spPr bwMode="auto">
            <a:xfrm flipH="1">
              <a:off x="1448" y="1328"/>
              <a:ext cx="288" cy="2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 Box 12"/>
            <p:cNvSpPr txBox="1">
              <a:spLocks noChangeArrowheads="1"/>
            </p:cNvSpPr>
            <p:nvPr/>
          </p:nvSpPr>
          <p:spPr bwMode="auto">
            <a:xfrm>
              <a:off x="2566" y="1526"/>
              <a:ext cx="1611" cy="708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2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“</a:t>
              </a:r>
              <a:r>
                <a:rPr lang="en-US" altLang="zh-TW" sz="2200" b="1" dirty="0">
                  <a:solidFill>
                    <a:srgbClr val="FF0000"/>
                  </a:solidFill>
                  <a:latin typeface="Arial Narrow" pitchFamily="34" charset="0"/>
                </a:rPr>
                <a:t>deteriorating</a:t>
              </a:r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” --</a:t>
              </a:r>
              <a:endParaRPr lang="en-US" altLang="zh-TW" sz="2000" b="1" dirty="0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  <a:p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cumulative </a:t>
              </a:r>
              <a:endParaRPr lang="en-US" altLang="zh-TW" sz="2000" b="1" dirty="0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  <a:p>
              <a:r>
                <a:rPr lang="en-US" altLang="zh-TW" sz="2000" b="1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affects of environments</a:t>
              </a:r>
              <a:endParaRPr lang="en-US" altLang="zh-TW" sz="2000" b="1" dirty="0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8" name="Line 13"/>
            <p:cNvSpPr>
              <a:spLocks noChangeShapeType="1"/>
            </p:cNvSpPr>
            <p:nvPr/>
          </p:nvSpPr>
          <p:spPr bwMode="auto">
            <a:xfrm>
              <a:off x="3896" y="2160"/>
              <a:ext cx="312" cy="6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20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- 11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9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idealized curve</a:t>
            </a:r>
            <a:endParaRPr lang="en-GB" dirty="0"/>
          </a:p>
        </p:txBody>
      </p:sp>
      <p:grpSp>
        <p:nvGrpSpPr>
          <p:cNvPr id="6" name="Group 10"/>
          <p:cNvGrpSpPr/>
          <p:nvPr/>
        </p:nvGrpSpPr>
        <p:grpSpPr bwMode="auto">
          <a:xfrm>
            <a:off x="2370908" y="2246811"/>
            <a:ext cx="7296150" cy="3834628"/>
            <a:chOff x="743" y="892"/>
            <a:chExt cx="4596" cy="2901"/>
          </a:xfrm>
        </p:grpSpPr>
        <p:sp>
          <p:nvSpPr>
            <p:cNvPr id="7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Arc 5"/>
            <p:cNvSpPr/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2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 Box 7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13" name="Text Box 9"/>
            <p:cNvSpPr txBox="1">
              <a:spLocks noChangeArrowheads="1"/>
            </p:cNvSpPr>
            <p:nvPr/>
          </p:nvSpPr>
          <p:spPr bwMode="auto">
            <a:xfrm>
              <a:off x="4262" y="2903"/>
              <a:ext cx="1077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Idealized Curve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</p:grpSp>
      <p:sp>
        <p:nvSpPr>
          <p:cNvPr id="15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- 12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4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actual failure curve</a:t>
            </a:r>
            <a:endParaRPr lang="en-GB" dirty="0"/>
          </a:p>
        </p:txBody>
      </p:sp>
      <p:grpSp>
        <p:nvGrpSpPr>
          <p:cNvPr id="14" name="Group 24"/>
          <p:cNvGrpSpPr/>
          <p:nvPr/>
        </p:nvGrpSpPr>
        <p:grpSpPr bwMode="auto">
          <a:xfrm>
            <a:off x="2137954" y="2033917"/>
            <a:ext cx="7296150" cy="4406706"/>
            <a:chOff x="743" y="418"/>
            <a:chExt cx="4596" cy="3375"/>
          </a:xfrm>
        </p:grpSpPr>
        <p:sp>
          <p:nvSpPr>
            <p:cNvPr id="15" name="Line 3"/>
            <p:cNvSpPr>
              <a:spLocks noChangeShapeType="1"/>
            </p:cNvSpPr>
            <p:nvPr/>
          </p:nvSpPr>
          <p:spPr bwMode="auto">
            <a:xfrm flipV="1">
              <a:off x="1136" y="892"/>
              <a:ext cx="0" cy="2536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6" name="Line 4"/>
            <p:cNvSpPr>
              <a:spLocks noChangeShapeType="1"/>
            </p:cNvSpPr>
            <p:nvPr/>
          </p:nvSpPr>
          <p:spPr bwMode="auto">
            <a:xfrm>
              <a:off x="1136" y="3416"/>
              <a:ext cx="373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Arc 5"/>
            <p:cNvSpPr/>
            <p:nvPr/>
          </p:nvSpPr>
          <p:spPr bwMode="auto">
            <a:xfrm flipH="1" flipV="1">
              <a:off x="1400" y="1133"/>
              <a:ext cx="521" cy="1935"/>
            </a:xfrm>
            <a:custGeom>
              <a:avLst/>
              <a:gdLst>
                <a:gd name="T0" fmla="*/ 0 w 21600"/>
                <a:gd name="T1" fmla="*/ 0 h 21589"/>
                <a:gd name="T2" fmla="*/ 0 w 21600"/>
                <a:gd name="T3" fmla="*/ 0 h 21589"/>
                <a:gd name="T4" fmla="*/ 0 w 21600"/>
                <a:gd name="T5" fmla="*/ 0 h 21589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589"/>
                <a:gd name="T11" fmla="*/ 21600 w 21600"/>
                <a:gd name="T12" fmla="*/ 21589 h 21589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589" fill="none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</a:path>
                <a:path w="21600" h="21589" stroke="0" extrusionOk="0">
                  <a:moveTo>
                    <a:pt x="680" y="-1"/>
                  </a:moveTo>
                  <a:cubicBezTo>
                    <a:pt x="12326" y="366"/>
                    <a:pt x="21582" y="9904"/>
                    <a:pt x="21599" y="21556"/>
                  </a:cubicBezTo>
                  <a:lnTo>
                    <a:pt x="0" y="21589"/>
                  </a:lnTo>
                  <a:lnTo>
                    <a:pt x="680" y="-1"/>
                  </a:lnTo>
                  <a:close/>
                </a:path>
              </a:pathLst>
            </a:custGeom>
            <a:noFill/>
            <a:ln w="28575">
              <a:solidFill>
                <a:schemeClr val="tx1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8" name="Line 6"/>
            <p:cNvSpPr>
              <a:spLocks noChangeShapeType="1"/>
            </p:cNvSpPr>
            <p:nvPr/>
          </p:nvSpPr>
          <p:spPr bwMode="auto">
            <a:xfrm>
              <a:off x="1904" y="3080"/>
              <a:ext cx="2328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9" name="Text Box 7"/>
            <p:cNvSpPr txBox="1">
              <a:spLocks noChangeArrowheads="1"/>
            </p:cNvSpPr>
            <p:nvPr/>
          </p:nvSpPr>
          <p:spPr bwMode="auto">
            <a:xfrm rot="-5400000">
              <a:off x="435" y="1601"/>
              <a:ext cx="86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Failure Rate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20" name="Text Box 8"/>
            <p:cNvSpPr txBox="1">
              <a:spLocks noChangeArrowheads="1"/>
            </p:cNvSpPr>
            <p:nvPr/>
          </p:nvSpPr>
          <p:spPr bwMode="auto">
            <a:xfrm>
              <a:off x="2684" y="3543"/>
              <a:ext cx="422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latin typeface="Arial Narrow" pitchFamily="34" charset="0"/>
                  <a:ea typeface="PMingLiU" pitchFamily="18" charset="-120"/>
                </a:rPr>
                <a:t>Time</a:t>
              </a:r>
              <a:endParaRPr lang="en-US" altLang="zh-TW" sz="2000" b="1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21" name="Text Box 9"/>
            <p:cNvSpPr txBox="1">
              <a:spLocks noChangeArrowheads="1"/>
            </p:cNvSpPr>
            <p:nvPr/>
          </p:nvSpPr>
          <p:spPr bwMode="auto">
            <a:xfrm>
              <a:off x="4262" y="2903"/>
              <a:ext cx="1077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Idealized Curve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22" name="Arc 10"/>
            <p:cNvSpPr/>
            <p:nvPr/>
          </p:nvSpPr>
          <p:spPr bwMode="auto">
            <a:xfrm flipH="1" flipV="1">
              <a:off x="1504" y="1056"/>
              <a:ext cx="560" cy="1720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3" name="Arc 11"/>
            <p:cNvSpPr/>
            <p:nvPr/>
          </p:nvSpPr>
          <p:spPr bwMode="auto">
            <a:xfrm flipV="1">
              <a:off x="2064" y="1840"/>
              <a:ext cx="2072" cy="93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4" name="Line 12"/>
            <p:cNvSpPr>
              <a:spLocks noChangeShapeType="1"/>
            </p:cNvSpPr>
            <p:nvPr/>
          </p:nvSpPr>
          <p:spPr bwMode="auto">
            <a:xfrm flipV="1">
              <a:off x="2016" y="1120"/>
              <a:ext cx="0" cy="164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5" name="Arc 13"/>
            <p:cNvSpPr/>
            <p:nvPr/>
          </p:nvSpPr>
          <p:spPr bwMode="auto">
            <a:xfrm flipH="1" flipV="1">
              <a:off x="2016" y="1128"/>
              <a:ext cx="512" cy="1624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6" name="Line 14"/>
            <p:cNvSpPr>
              <a:spLocks noChangeShapeType="1"/>
            </p:cNvSpPr>
            <p:nvPr/>
          </p:nvSpPr>
          <p:spPr bwMode="auto">
            <a:xfrm flipV="1">
              <a:off x="2512" y="1112"/>
              <a:ext cx="0" cy="1640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7" name="Arc 15"/>
            <p:cNvSpPr/>
            <p:nvPr/>
          </p:nvSpPr>
          <p:spPr bwMode="auto">
            <a:xfrm flipH="1" flipV="1">
              <a:off x="2513" y="1104"/>
              <a:ext cx="672" cy="1520"/>
            </a:xfrm>
            <a:custGeom>
              <a:avLst/>
              <a:gdLst>
                <a:gd name="T0" fmla="*/ 0 w 22282"/>
                <a:gd name="T1" fmla="*/ 0 h 21600"/>
                <a:gd name="T2" fmla="*/ 0 w 22282"/>
                <a:gd name="T3" fmla="*/ 0 h 21600"/>
                <a:gd name="T4" fmla="*/ 0 w 22282"/>
                <a:gd name="T5" fmla="*/ 0 h 21600"/>
                <a:gd name="T6" fmla="*/ 0 60000 65536"/>
                <a:gd name="T7" fmla="*/ 0 60000 65536"/>
                <a:gd name="T8" fmla="*/ 0 60000 65536"/>
                <a:gd name="T9" fmla="*/ 0 w 22282"/>
                <a:gd name="T10" fmla="*/ 0 h 21600"/>
                <a:gd name="T11" fmla="*/ 22282 w 22282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2282" h="21600" fill="none" extrusionOk="0">
                  <a:moveTo>
                    <a:pt x="-1" y="10"/>
                  </a:moveTo>
                  <a:cubicBezTo>
                    <a:pt x="227" y="3"/>
                    <a:pt x="454" y="-1"/>
                    <a:pt x="682" y="0"/>
                  </a:cubicBezTo>
                  <a:cubicBezTo>
                    <a:pt x="12611" y="0"/>
                    <a:pt x="22282" y="9670"/>
                    <a:pt x="22282" y="21600"/>
                  </a:cubicBezTo>
                </a:path>
                <a:path w="22282" h="21600" stroke="0" extrusionOk="0">
                  <a:moveTo>
                    <a:pt x="-1" y="10"/>
                  </a:moveTo>
                  <a:cubicBezTo>
                    <a:pt x="227" y="3"/>
                    <a:pt x="454" y="-1"/>
                    <a:pt x="682" y="0"/>
                  </a:cubicBezTo>
                  <a:cubicBezTo>
                    <a:pt x="12611" y="0"/>
                    <a:pt x="22282" y="9670"/>
                    <a:pt x="22282" y="21600"/>
                  </a:cubicBezTo>
                  <a:lnTo>
                    <a:pt x="682" y="21600"/>
                  </a:lnTo>
                  <a:lnTo>
                    <a:pt x="-1" y="1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Line 16"/>
            <p:cNvSpPr>
              <a:spLocks noChangeShapeType="1"/>
            </p:cNvSpPr>
            <p:nvPr/>
          </p:nvSpPr>
          <p:spPr bwMode="auto">
            <a:xfrm flipV="1">
              <a:off x="3192" y="1104"/>
              <a:ext cx="0" cy="1528"/>
            </a:xfrm>
            <a:prstGeom prst="line">
              <a:avLst/>
            </a:prstGeom>
            <a:noFill/>
            <a:ln w="28575">
              <a:solidFill>
                <a:schemeClr val="accent2"/>
              </a:solidFill>
              <a:rou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9" name="Arc 17"/>
            <p:cNvSpPr/>
            <p:nvPr/>
          </p:nvSpPr>
          <p:spPr bwMode="auto">
            <a:xfrm flipH="1" flipV="1">
              <a:off x="3192" y="1104"/>
              <a:ext cx="552" cy="1272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60000 65536"/>
                <a:gd name="T7" fmla="*/ 0 60000 65536"/>
                <a:gd name="T8" fmla="*/ 0 60000 65536"/>
                <a:gd name="T9" fmla="*/ 0 w 21600"/>
                <a:gd name="T10" fmla="*/ 0 h 21600"/>
                <a:gd name="T11" fmla="*/ 21600 w 21600"/>
                <a:gd name="T12" fmla="*/ 21600 h 21600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1600" h="21600" fill="none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</a:path>
                <a:path w="21600" h="21600" stroke="0" extrusionOk="0">
                  <a:moveTo>
                    <a:pt x="-1" y="0"/>
                  </a:moveTo>
                  <a:cubicBezTo>
                    <a:pt x="11929" y="0"/>
                    <a:pt x="21600" y="9670"/>
                    <a:pt x="21600" y="21600"/>
                  </a:cubicBezTo>
                  <a:lnTo>
                    <a:pt x="0" y="21600"/>
                  </a:lnTo>
                  <a:lnTo>
                    <a:pt x="-1" y="0"/>
                  </a:lnTo>
                  <a:close/>
                </a:path>
              </a:pathLst>
            </a:custGeom>
            <a:noFill/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Oval 18"/>
            <p:cNvSpPr>
              <a:spLocks noChangeArrowheads="1"/>
            </p:cNvSpPr>
            <p:nvPr/>
          </p:nvSpPr>
          <p:spPr bwMode="auto">
            <a:xfrm>
              <a:off x="2000" y="2736"/>
              <a:ext cx="56" cy="72"/>
            </a:xfrm>
            <a:prstGeom prst="ellipse">
              <a:avLst/>
            </a:prstGeom>
            <a:solidFill>
              <a:schemeClr val="tx1"/>
            </a:solidFill>
            <a:ln w="28575">
              <a:solidFill>
                <a:schemeClr val="accent2"/>
              </a:solidFill>
              <a:round/>
            </a:ln>
          </p:spPr>
          <p:txBody>
            <a:bodyPr wrap="none" anchor="ctr"/>
            <a:lstStyle/>
            <a:p>
              <a:pPr eaLnBrk="1" hangingPunct="1"/>
              <a:endParaRPr kumimoji="1" lang="en-US" altLang="en-US">
                <a:latin typeface="Tahoma" panose="020B0604030504040204" pitchFamily="34" charset="0"/>
                <a:ea typeface="PMingLiU" pitchFamily="18" charset="-120"/>
              </a:endParaRPr>
            </a:p>
          </p:txBody>
        </p:sp>
        <p:sp>
          <p:nvSpPr>
            <p:cNvPr id="31" name="Text Box 19"/>
            <p:cNvSpPr txBox="1">
              <a:spLocks noChangeArrowheads="1"/>
            </p:cNvSpPr>
            <p:nvPr/>
          </p:nvSpPr>
          <p:spPr bwMode="auto">
            <a:xfrm>
              <a:off x="2312" y="2807"/>
              <a:ext cx="576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>
                  <a:latin typeface="Arial Narrow" pitchFamily="34" charset="0"/>
                  <a:ea typeface="PMingLiU" pitchFamily="18" charset="-120"/>
                </a:rPr>
                <a:t>Change</a:t>
              </a:r>
              <a:endParaRPr lang="en-US" altLang="zh-TW" sz="2000"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32" name="Line 20"/>
            <p:cNvSpPr>
              <a:spLocks noChangeShapeType="1"/>
            </p:cNvSpPr>
            <p:nvPr/>
          </p:nvSpPr>
          <p:spPr bwMode="auto">
            <a:xfrm flipH="1" flipV="1">
              <a:off x="2080" y="2808"/>
              <a:ext cx="272" cy="12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33" name="Text Box 21"/>
            <p:cNvSpPr txBox="1">
              <a:spLocks noChangeArrowheads="1"/>
            </p:cNvSpPr>
            <p:nvPr/>
          </p:nvSpPr>
          <p:spPr bwMode="auto">
            <a:xfrm>
              <a:off x="4150" y="2035"/>
              <a:ext cx="925" cy="250"/>
            </a:xfrm>
            <a:prstGeom prst="rect">
              <a:avLst/>
            </a:prstGeom>
            <a:noFill/>
            <a:ln w="9525">
              <a:noFill/>
              <a:miter lim="800000"/>
            </a:ln>
          </p:spPr>
          <p:txBody>
            <a:bodyPr wrap="none">
              <a:spAutoFit/>
            </a:bodyPr>
            <a:lstStyle/>
            <a:p>
              <a:r>
                <a:rPr lang="en-US" altLang="zh-TW" sz="2000" b="1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Actual Curve</a:t>
              </a:r>
              <a:endParaRPr lang="en-US" altLang="zh-TW" sz="2000" b="1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34" name="Text Box 22"/>
            <p:cNvSpPr txBox="1">
              <a:spLocks noChangeArrowheads="1"/>
            </p:cNvSpPr>
            <p:nvPr/>
          </p:nvSpPr>
          <p:spPr bwMode="auto">
            <a:xfrm>
              <a:off x="2196" y="418"/>
              <a:ext cx="1502" cy="542"/>
            </a:xfrm>
            <a:prstGeom prst="rect">
              <a:avLst/>
            </a:prstGeom>
            <a:solidFill>
              <a:srgbClr val="99FF99"/>
            </a:solidFill>
            <a:ln w="9525">
              <a:noFill/>
              <a:miter lim="800000"/>
            </a:ln>
          </p:spPr>
          <p:txBody>
            <a:bodyPr wrap="square">
              <a:spAutoFit/>
            </a:bodyPr>
            <a:lstStyle/>
            <a:p>
              <a:r>
                <a:rPr lang="en-US" altLang="zh-TW" sz="2000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Increased failure rates</a:t>
              </a:r>
              <a:endParaRPr lang="en-US" altLang="zh-TW" sz="2000" dirty="0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  <a:p>
              <a:r>
                <a:rPr lang="en-US" altLang="zh-TW" sz="2000" dirty="0">
                  <a:solidFill>
                    <a:srgbClr val="FF0000"/>
                  </a:solidFill>
                  <a:latin typeface="Arial Narrow" pitchFamily="34" charset="0"/>
                  <a:ea typeface="PMingLiU" pitchFamily="18" charset="-120"/>
                </a:rPr>
                <a:t>due to side effects</a:t>
              </a:r>
              <a:endParaRPr lang="en-US" altLang="zh-TW" sz="2000" dirty="0">
                <a:solidFill>
                  <a:srgbClr val="FF0000"/>
                </a:solidFill>
                <a:latin typeface="Arial Narrow" pitchFamily="34" charset="0"/>
                <a:ea typeface="PMingLiU" pitchFamily="18" charset="-120"/>
              </a:endParaRPr>
            </a:p>
          </p:txBody>
        </p:sp>
        <p:sp>
          <p:nvSpPr>
            <p:cNvPr id="35" name="Line 23"/>
            <p:cNvSpPr>
              <a:spLocks noChangeShapeType="1"/>
            </p:cNvSpPr>
            <p:nvPr/>
          </p:nvSpPr>
          <p:spPr bwMode="auto">
            <a:xfrm flipH="1">
              <a:off x="2056" y="912"/>
              <a:ext cx="280" cy="36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7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- 13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6" name="Content Placeholder 2"/>
          <p:cNvSpPr>
            <a:spLocks noGrp="1"/>
          </p:cNvSpPr>
          <p:nvPr>
            <p:ph idx="1"/>
          </p:nvPr>
        </p:nvSpPr>
        <p:spPr>
          <a:xfrm>
            <a:off x="11551428" y="6582157"/>
            <a:ext cx="640572" cy="275843"/>
          </a:xfrm>
        </p:spPr>
        <p:txBody>
          <a:bodyPr>
            <a:normAutofit fontScale="32500" lnSpcReduction="20000"/>
          </a:bodyPr>
          <a:lstStyle/>
          <a:p>
            <a:pPr marL="0" indent="0">
              <a:buNone/>
            </a:pPr>
            <a:r>
              <a:rPr lang="en-US" sz="3800" dirty="0">
                <a:solidFill>
                  <a:schemeClr val="bg1">
                    <a:lumMod val="50000"/>
                  </a:schemeClr>
                </a:solidFill>
              </a:rPr>
              <a:t>  MMH</a:t>
            </a:r>
            <a:endParaRPr lang="en-US" sz="3800" dirty="0">
              <a:solidFill>
                <a:schemeClr val="bg1">
                  <a:lumMod val="50000"/>
                </a:schemeClr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what is Software engineering?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063932"/>
            <a:ext cx="10953310" cy="4310742"/>
          </a:xfrm>
        </p:spPr>
        <p:txBody>
          <a:bodyPr>
            <a:normAutofit/>
          </a:bodyPr>
          <a:lstStyle/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Technologies that make it easier, faster, and less expensive to build high-quality computer programs</a:t>
            </a: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A discipline aiming to the production of fault-free software, delivered on time and within budget, that satisfies the users’ needs</a:t>
            </a:r>
            <a:endParaRPr lang="en-US" altLang="zh-TW" sz="2200" dirty="0">
              <a:latin typeface="+mj-lt"/>
            </a:endParaRPr>
          </a:p>
          <a:p>
            <a:pPr marL="0" indent="0">
              <a:spcBef>
                <a:spcPct val="0"/>
              </a:spcBef>
              <a:buClrTx/>
              <a:buSzTx/>
              <a:buNone/>
              <a:defRPr/>
            </a:pP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An engineering: </a:t>
            </a:r>
            <a:r>
              <a:rPr lang="en-US" altLang="zh-TW" sz="2200" dirty="0">
                <a:latin typeface="+mj-lt"/>
              </a:rPr>
              <a:t>set of activities in software production </a:t>
            </a:r>
            <a:endParaRPr lang="en-US" altLang="zh-TW" sz="2200" dirty="0">
              <a:latin typeface="+mj-lt"/>
            </a:endParaRPr>
          </a:p>
          <a:p>
            <a:pPr>
              <a:spcBef>
                <a:spcPct val="0"/>
              </a:spcBef>
              <a:buClrTx/>
              <a:buSzTx/>
              <a:buFont typeface="Wingdings" panose="05000000000000000000" pitchFamily="2" charset="2"/>
              <a:buChar char="q"/>
              <a:defRPr/>
            </a:pPr>
            <a:r>
              <a:rPr lang="en-US" altLang="zh-TW" sz="2200" dirty="0">
                <a:latin typeface="+mj-lt"/>
              </a:rPr>
              <a:t>  The philosophy and paradigm of established engineering disciplines to solve what are termed software crisis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- 14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application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12436" y="2103121"/>
            <a:ext cx="10953310" cy="4310742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Bell MT" pitchFamily="18" charset="0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System software </a:t>
            </a:r>
            <a:r>
              <a:rPr lang="en-US" altLang="zh-TW" sz="2200" dirty="0">
                <a:latin typeface="+mj-lt"/>
              </a:rPr>
              <a:t>(control computer H/W such as OS)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Business software</a:t>
            </a:r>
            <a:r>
              <a:rPr lang="en-US" altLang="zh-TW" sz="2200" dirty="0">
                <a:latin typeface="+mj-lt"/>
              </a:rPr>
              <a:t> (commercial application for business users, SAP, ERP)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Engineering and scientific software </a:t>
            </a:r>
            <a:r>
              <a:rPr lang="en-US" altLang="zh-TW" sz="2200" dirty="0">
                <a:latin typeface="+mj-lt"/>
              </a:rPr>
              <a:t>(e.g. statistical analysis-SPSS, </a:t>
            </a:r>
            <a:r>
              <a:rPr lang="en-US" altLang="zh-TW" sz="2200" dirty="0" err="1">
                <a:latin typeface="+mj-lt"/>
              </a:rPr>
              <a:t>matlab</a:t>
            </a:r>
            <a:r>
              <a:rPr lang="en-US" altLang="zh-TW" sz="2200" dirty="0">
                <a:latin typeface="+mj-lt"/>
              </a:rPr>
              <a:t>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Embedded software </a:t>
            </a:r>
            <a:r>
              <a:rPr lang="en-US" altLang="zh-TW" sz="2200" dirty="0">
                <a:latin typeface="+mj-lt"/>
              </a:rPr>
              <a:t>(e.g. auto pilot, biometric device)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Personal computer software </a:t>
            </a:r>
            <a:r>
              <a:rPr lang="en-US" altLang="zh-TW" sz="2200" dirty="0">
                <a:latin typeface="+mj-lt"/>
              </a:rPr>
              <a:t>(e.g. Microsoft Office)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Web-based software </a:t>
            </a:r>
            <a:r>
              <a:rPr lang="en-US" altLang="zh-TW" sz="2200" dirty="0">
                <a:latin typeface="+mj-lt"/>
              </a:rPr>
              <a:t>(use over internet with browser, e.g. Gmail) </a:t>
            </a: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latin typeface="+mj-lt"/>
              </a:rPr>
              <a:t>  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Artificial intelligence software </a:t>
            </a:r>
            <a:r>
              <a:rPr lang="en-US" altLang="zh-TW" sz="2200" dirty="0">
                <a:latin typeface="+mj-lt"/>
              </a:rPr>
              <a:t>(interact with computer, HCI, game)</a:t>
            </a: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  <a:buFont typeface="Wingdings" panose="05000000000000000000" pitchFamily="2" charset="2"/>
              <a:buChar char="q"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- 15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(management)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3905" y="1812290"/>
            <a:ext cx="10953115" cy="492125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2200" dirty="0">
                <a:solidFill>
                  <a:srgbClr val="FF0000"/>
                </a:solidFill>
              </a:rPr>
              <a:t>Myth1:</a:t>
            </a:r>
            <a:r>
              <a:rPr lang="en-US" altLang="zh-TW" sz="2200" i="1" dirty="0"/>
              <a:t> </a:t>
            </a:r>
            <a:r>
              <a:rPr lang="en-US" altLang="zh-TW" sz="2200" dirty="0">
                <a:latin typeface="+mj-lt"/>
              </a:rPr>
              <a:t>We already have a book that’s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full of standards and procedures</a:t>
            </a:r>
            <a:r>
              <a:rPr lang="zh-TW" altLang="en-US" sz="2200" dirty="0">
                <a:solidFill>
                  <a:srgbClr val="C00000"/>
                </a:solidFill>
                <a:latin typeface="+mj-lt"/>
              </a:rPr>
              <a:t> </a:t>
            </a:r>
            <a:r>
              <a:rPr lang="en-US" altLang="zh-TW" sz="2200" dirty="0">
                <a:latin typeface="+mj-lt"/>
              </a:rPr>
              <a:t>for building s/w, won’t that  provide my people with everything they need to know?</a:t>
            </a: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My people have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state-of-the-art software development tools</a:t>
            </a:r>
            <a:r>
              <a:rPr lang="en-US" altLang="zh-TW" sz="2200" dirty="0">
                <a:latin typeface="+mj-lt"/>
              </a:rPr>
              <a:t>, after all, we buy them the newest computers.</a:t>
            </a:r>
            <a:br>
              <a:rPr lang="en-US" altLang="zh-TW" sz="2200" dirty="0">
                <a:latin typeface="+mj-lt"/>
              </a:rPr>
            </a:br>
            <a:endParaRPr lang="zh-TW" altLang="en-US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Myth3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If we get behind schedule, we can add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more programmers </a:t>
            </a:r>
            <a:r>
              <a:rPr lang="en-US" altLang="zh-TW" sz="2200" dirty="0">
                <a:latin typeface="+mj-lt"/>
              </a:rPr>
              <a:t>and catch up.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defRPr/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Myth4</a:t>
            </a:r>
            <a:r>
              <a:rPr lang="en-US" altLang="zh-TW" sz="2200" i="1" dirty="0">
                <a:latin typeface="+mj-lt"/>
              </a:rPr>
              <a:t>: </a:t>
            </a:r>
            <a:r>
              <a:rPr lang="en-US" altLang="zh-TW" sz="2200" dirty="0">
                <a:latin typeface="+mj-lt"/>
              </a:rPr>
              <a:t>If I decide to outsource the software </a:t>
            </a:r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project to a third party, </a:t>
            </a:r>
            <a:r>
              <a:rPr lang="en-US" altLang="zh-TW" sz="2200" dirty="0">
                <a:latin typeface="+mj-lt"/>
              </a:rPr>
              <a:t>I can just relax and let that firm build it.</a:t>
            </a:r>
            <a:endParaRPr lang="en-US" altLang="zh-TW" sz="2200" dirty="0">
              <a:latin typeface="+mj-lt"/>
            </a:endParaRPr>
          </a:p>
          <a:p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- 16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(customer)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4074" y="2129246"/>
            <a:ext cx="10953310" cy="3004457"/>
          </a:xfrm>
        </p:spPr>
        <p:txBody>
          <a:bodyPr>
            <a:normAutofit/>
          </a:bodyPr>
          <a:lstStyle/>
          <a:p>
            <a:r>
              <a:rPr lang="en-US" altLang="zh-TW" sz="2200" dirty="0">
                <a:solidFill>
                  <a:srgbClr val="C00000"/>
                </a:solidFill>
                <a:latin typeface="+mj-lt"/>
              </a:rPr>
              <a:t>   </a:t>
            </a: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Myth1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A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general statement </a:t>
            </a:r>
            <a:r>
              <a:rPr lang="en-US" altLang="zh-TW" sz="2200" dirty="0">
                <a:latin typeface="+mj-lt"/>
              </a:rPr>
              <a:t>of objectives is sufficient to begin writing programs – we can fill in the details later.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Project requirements continually change, but </a:t>
            </a:r>
            <a:r>
              <a:rPr lang="en-US" altLang="zh-TW" sz="2200" dirty="0">
                <a:solidFill>
                  <a:srgbClr val="7030A0"/>
                </a:solidFill>
                <a:latin typeface="+mj-lt"/>
              </a:rPr>
              <a:t>change can be easily accommodated </a:t>
            </a:r>
            <a:br>
              <a:rPr lang="en-US" altLang="zh-TW" sz="2200" dirty="0">
                <a:latin typeface="+mj-lt"/>
              </a:rPr>
            </a:br>
            <a:r>
              <a:rPr lang="en-US" altLang="zh-TW" sz="2200" dirty="0">
                <a:latin typeface="+mj-lt"/>
              </a:rPr>
              <a:t>              because software is flexible.</a:t>
            </a:r>
            <a:endParaRPr lang="en-US" altLang="zh-TW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- 17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Software Myths (practitioner)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89940" y="2063750"/>
            <a:ext cx="10953115" cy="4604385"/>
          </a:xfrm>
        </p:spPr>
        <p:txBody>
          <a:bodyPr>
            <a:normAutofit lnSpcReduction="10000"/>
          </a:bodyPr>
          <a:lstStyle/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Myth1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Once we write the program and get it to work, our job is done.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 lvl="1">
              <a:lnSpc>
                <a:spcPct val="90000"/>
              </a:lnSpc>
              <a:buNone/>
            </a:pPr>
            <a:r>
              <a:rPr lang="en-US" altLang="zh-TW" sz="2200" i="1" dirty="0">
                <a:latin typeface="+mj-lt"/>
              </a:rPr>
              <a:t>Fact: </a:t>
            </a:r>
            <a:r>
              <a:rPr lang="en-US" altLang="zh-TW" sz="2200" i="1" dirty="0">
                <a:solidFill>
                  <a:srgbClr val="FF0000"/>
                </a:solidFill>
                <a:latin typeface="+mj-lt"/>
              </a:rPr>
              <a:t>the sooner you begin writing code, the longer it will take you to get done.</a:t>
            </a:r>
            <a:br>
              <a:rPr lang="en-US" altLang="zh-TW" sz="2200" i="1" dirty="0">
                <a:solidFill>
                  <a:srgbClr val="FF0000"/>
                </a:solidFill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Myth2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Until I get the program “running,” I have no way of assessing its quality.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Myth3</a:t>
            </a:r>
            <a:r>
              <a:rPr lang="en-US" altLang="zh-TW" sz="2200" i="1" dirty="0">
                <a:latin typeface="+mj-lt"/>
              </a:rPr>
              <a:t>:</a:t>
            </a:r>
            <a:r>
              <a:rPr lang="en-US" altLang="zh-TW" sz="2200" dirty="0">
                <a:latin typeface="+mj-lt"/>
              </a:rPr>
              <a:t> The only deliverable work product for a successful project is the working program.</a:t>
            </a:r>
            <a:br>
              <a:rPr lang="en-US" altLang="zh-TW" sz="2200" dirty="0">
                <a:latin typeface="+mj-lt"/>
              </a:rPr>
            </a:br>
            <a:endParaRPr lang="en-US" altLang="zh-TW" sz="2200" dirty="0">
              <a:latin typeface="+mj-lt"/>
            </a:endParaRPr>
          </a:p>
          <a:p>
            <a:pPr>
              <a:lnSpc>
                <a:spcPct val="90000"/>
              </a:lnSpc>
            </a:pPr>
            <a:r>
              <a:rPr lang="en-US" altLang="zh-TW" sz="2200" dirty="0">
                <a:solidFill>
                  <a:srgbClr val="FF0000"/>
                </a:solidFill>
                <a:latin typeface="+mj-lt"/>
              </a:rPr>
              <a:t>  Myth4</a:t>
            </a:r>
            <a:r>
              <a:rPr lang="en-US" altLang="zh-TW" sz="2200" i="1" dirty="0">
                <a:latin typeface="+mj-lt"/>
              </a:rPr>
              <a:t>: </a:t>
            </a:r>
            <a:r>
              <a:rPr lang="en-US" altLang="zh-TW" sz="2200" dirty="0">
                <a:latin typeface="+mj-lt"/>
              </a:rPr>
              <a:t>Software engineering will make us create voluminous and unnecessary documentation and will invariable slow us down.</a:t>
            </a:r>
            <a:endParaRPr lang="zh-TW" altLang="en-US" sz="2200" dirty="0">
              <a:latin typeface="+mj-lt"/>
            </a:endParaRPr>
          </a:p>
          <a:p>
            <a:pPr>
              <a:defRPr/>
            </a:pPr>
            <a:endParaRPr lang="en-US" altLang="zh-TW" sz="22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- 19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Content Placeholder 2"/>
          <p:cNvSpPr txBox="1"/>
          <p:nvPr/>
        </p:nvSpPr>
        <p:spPr>
          <a:xfrm>
            <a:off x="11551428" y="6582157"/>
            <a:ext cx="640572" cy="275843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32500" lnSpcReduction="20000"/>
          </a:bodyPr>
          <a:lstStyle/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600"/>
              </a:spcAft>
              <a:buClr>
                <a:schemeClr val="accent2"/>
              </a:buClr>
              <a:buSzPct val="92000"/>
              <a:buFont typeface="Wingdings 2" panose="05020102010507070707" pitchFamily="18" charset="2"/>
              <a:buNone/>
              <a:defRPr/>
            </a:pPr>
            <a:r>
              <a:rPr kumimoji="0" lang="en-US" sz="380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 MMH</a:t>
            </a:r>
            <a:endParaRPr kumimoji="0" lang="en-US" sz="3800" b="0" i="0" u="none" strike="noStrike" kern="1200" cap="none" spc="0" normalizeH="0" baseline="0" noProof="0" dirty="0">
              <a:ln>
                <a:noFill/>
              </a:ln>
              <a:solidFill>
                <a:schemeClr val="bg1">
                  <a:lumMod val="50000"/>
                </a:scheme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references</a:t>
            </a:r>
            <a:endParaRPr lang="en-GB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90200" y="2063932"/>
            <a:ext cx="10953310" cy="2625634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sz="2000" dirty="0">
                <a:ea typeface="MS PGothic" panose="020B0600070205080204" pitchFamily="34" charset="-128"/>
              </a:rPr>
              <a:t>R.S. Pressman &amp; Associates, Inc. (2010). </a:t>
            </a:r>
            <a:r>
              <a:rPr lang="en-US" sz="2000" i="1" dirty="0">
                <a:ea typeface="MS PGothic" panose="020B0600070205080204" pitchFamily="34" charset="-128"/>
              </a:rPr>
              <a:t>Software Engineering: A Practitioner’s Approach.</a:t>
            </a:r>
            <a:endParaRPr lang="en-US" sz="2000" i="1" dirty="0">
              <a:ea typeface="MS PGothic" panose="020B0600070205080204" pitchFamily="34" charset="-128"/>
            </a:endParaRPr>
          </a:p>
          <a:p>
            <a:pPr>
              <a:defRPr/>
            </a:pPr>
            <a:r>
              <a:rPr lang="en-US" sz="2000" dirty="0"/>
              <a:t>Kelly, J. C., </a:t>
            </a:r>
            <a:r>
              <a:rPr lang="en-US" sz="2000" dirty="0" err="1"/>
              <a:t>Sherif</a:t>
            </a:r>
            <a:r>
              <a:rPr lang="en-US" sz="2000" dirty="0"/>
              <a:t>, J. S., &amp; Hops, J. (1992). An analysis of defect densities found during software inspections. </a:t>
            </a:r>
            <a:r>
              <a:rPr lang="en-US" sz="2000" i="1" dirty="0"/>
              <a:t>Journal of Systems and Software</a:t>
            </a:r>
            <a:r>
              <a:rPr lang="en-US" sz="2000" dirty="0"/>
              <a:t>, </a:t>
            </a:r>
            <a:r>
              <a:rPr lang="en-US" sz="2000" i="1" dirty="0"/>
              <a:t>17</a:t>
            </a:r>
            <a:r>
              <a:rPr lang="en-US" sz="2000" dirty="0"/>
              <a:t>(2), 111-117.</a:t>
            </a:r>
            <a:endParaRPr lang="en-US" sz="2000" dirty="0"/>
          </a:p>
          <a:p>
            <a:pPr>
              <a:defRPr/>
            </a:pPr>
            <a:r>
              <a:rPr lang="en-US" sz="2000" dirty="0"/>
              <a:t>Bhandari, I., Halliday, M. J., </a:t>
            </a:r>
            <a:r>
              <a:rPr lang="en-US" sz="2000" dirty="0" err="1"/>
              <a:t>Chaar</a:t>
            </a:r>
            <a:r>
              <a:rPr lang="en-US" sz="2000" dirty="0"/>
              <a:t>, J., </a:t>
            </a:r>
            <a:r>
              <a:rPr lang="en-US" sz="2000" dirty="0" err="1"/>
              <a:t>Chillarege</a:t>
            </a:r>
            <a:r>
              <a:rPr lang="en-US" sz="2000" dirty="0"/>
              <a:t>, R., Jones, K., Atkinson, J. S., &amp; </a:t>
            </a:r>
            <a:r>
              <a:rPr lang="en-US" sz="2000" dirty="0" err="1"/>
              <a:t>Yonezawa</a:t>
            </a:r>
            <a:r>
              <a:rPr lang="en-US" sz="2000" dirty="0"/>
              <a:t>, M. (1994).</a:t>
            </a:r>
            <a:br>
              <a:rPr lang="en-US" sz="2000" dirty="0"/>
            </a:br>
            <a:r>
              <a:rPr lang="en-US" sz="2000" dirty="0"/>
              <a:t>In-process improvement through defect data interpretation. </a:t>
            </a:r>
            <a:r>
              <a:rPr lang="en-US" sz="2000" i="1" dirty="0"/>
              <a:t>IBM Systems Journal</a:t>
            </a:r>
            <a:r>
              <a:rPr lang="en-US" sz="2000" dirty="0"/>
              <a:t>, </a:t>
            </a:r>
            <a:r>
              <a:rPr lang="en-US" sz="2000" i="1" dirty="0"/>
              <a:t>33</a:t>
            </a:r>
            <a:r>
              <a:rPr lang="en-US" sz="2000" dirty="0"/>
              <a:t>(1), 182-214.</a:t>
            </a:r>
            <a:endParaRPr lang="en-US" sz="2000" dirty="0">
              <a:ea typeface="MS PGothic" panose="020B0600070205080204" pitchFamily="34" charset="-128"/>
            </a:endParaRPr>
          </a:p>
          <a:p>
            <a:pPr>
              <a:defRPr/>
            </a:pPr>
            <a:endParaRPr lang="en-US" altLang="zh-TW" sz="2000" dirty="0">
              <a:solidFill>
                <a:srgbClr val="00B050"/>
              </a:solidFill>
              <a:latin typeface="+mj-lt"/>
              <a:ea typeface="PMingLiU" pitchFamily="18" charset="-120"/>
            </a:endParaRPr>
          </a:p>
        </p:txBody>
      </p:sp>
      <p:sp>
        <p:nvSpPr>
          <p:cNvPr id="6" name="Slide Number Placeholder 3"/>
          <p:cNvSpPr txBox="1"/>
          <p:nvPr/>
        </p:nvSpPr>
        <p:spPr>
          <a:xfrm>
            <a:off x="11665746" y="587829"/>
            <a:ext cx="425823" cy="1225165"/>
          </a:xfrm>
          <a:prstGeom prst="rect">
            <a:avLst/>
          </a:prstGeom>
        </p:spPr>
        <p:txBody>
          <a:bodyPr vert="vert270" lIns="91440" tIns="45720" rIns="91440" bIns="45720" rtlCol="0" anchor="ctr"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sz="1400" b="1" i="0" u="none" strike="noStrike" kern="1200" cap="none" spc="0" normalizeH="0" baseline="0" noProof="0" dirty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Slide - </a:t>
            </a:r>
            <a:r>
              <a:rPr lang="en-US" sz="1400" b="1" dirty="0">
                <a:solidFill>
                  <a:schemeClr val="accent2"/>
                </a:solidFill>
              </a:rPr>
              <a:t>20</a:t>
            </a: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ividend">
  <a:themeElements>
    <a:clrScheme name="Blue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Dividend">
      <a:maj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6301</Words>
  <Application>WPS Presentation</Application>
  <PresentationFormat>Widescreen</PresentationFormat>
  <Paragraphs>252</Paragraphs>
  <Slides>20</Slides>
  <Notes>1</Notes>
  <HiddenSlides>0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0</vt:i4>
      </vt:variant>
      <vt:variant>
        <vt:lpstr>幻灯片标题</vt:lpstr>
      </vt:variant>
      <vt:variant>
        <vt:i4>20</vt:i4>
      </vt:variant>
    </vt:vector>
  </HeadingPairs>
  <TitlesOfParts>
    <vt:vector size="39" baseType="lpstr">
      <vt:lpstr>Arial</vt:lpstr>
      <vt:lpstr>SimSun</vt:lpstr>
      <vt:lpstr>Wingdings</vt:lpstr>
      <vt:lpstr>Wingdings 2</vt:lpstr>
      <vt:lpstr>Wingdings</vt:lpstr>
      <vt:lpstr>굴림</vt:lpstr>
      <vt:lpstr>Malgun Gothic</vt:lpstr>
      <vt:lpstr>PMingLiU</vt:lpstr>
      <vt:lpstr>MingLiU-ExtB</vt:lpstr>
      <vt:lpstr>Bell MT</vt:lpstr>
      <vt:lpstr>Segoe Print</vt:lpstr>
      <vt:lpstr>Gill Sans MT</vt:lpstr>
      <vt:lpstr>Microsoft YaHei</vt:lpstr>
      <vt:lpstr>Arial Unicode MS</vt:lpstr>
      <vt:lpstr>Calibri</vt:lpstr>
      <vt:lpstr>Arial Narrow</vt:lpstr>
      <vt:lpstr>Tahoma</vt:lpstr>
      <vt:lpstr>MS PGothic</vt:lpstr>
      <vt:lpstr>Dividend</vt:lpstr>
      <vt:lpstr>PowerPoint 演示文稿</vt:lpstr>
      <vt:lpstr>Why system fails?</vt:lpstr>
      <vt:lpstr>Scope of software Engineering</vt:lpstr>
      <vt:lpstr>Software characteristics</vt:lpstr>
      <vt:lpstr>Goal: Computer science   vs.   Software engineering</vt:lpstr>
      <vt:lpstr>Software development life cycle (SDLC)</vt:lpstr>
      <vt:lpstr>Good &amp; bad software</vt:lpstr>
      <vt:lpstr>Faults in software development phases</vt:lpstr>
      <vt:lpstr>Cost of detection &amp; correction of a fault</vt:lpstr>
      <vt:lpstr>Cost of detection &amp; correction of a fault</vt:lpstr>
      <vt:lpstr>Cost of change</vt:lpstr>
      <vt:lpstr>Product bathtub curve model</vt:lpstr>
      <vt:lpstr>Software idealized curve</vt:lpstr>
      <vt:lpstr>Software actual failure curve</vt:lpstr>
      <vt:lpstr>what is Software engineering?</vt:lpstr>
      <vt:lpstr>Software application</vt:lpstr>
      <vt:lpstr>Software Myths (management)</vt:lpstr>
      <vt:lpstr>Software Myths (customer)</vt:lpstr>
      <vt:lpstr>Software Myths (practitioner)</vt:lpstr>
      <vt:lpstr>references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 - Ch.01 - Software and Software Engineering</dc:title>
  <dc:creator>M. Mahmudul Hasan</dc:creator>
  <dc:subject>Software Engineering</dc:subject>
  <cp:lastModifiedBy>Teacher</cp:lastModifiedBy>
  <cp:revision>7</cp:revision>
  <dcterms:created xsi:type="dcterms:W3CDTF">2019-05-13T08:37:00Z</dcterms:created>
  <dcterms:modified xsi:type="dcterms:W3CDTF">2025-10-22T07:57:23Z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FA8B62B42D71483FB5A1DF3704194D2C_12</vt:lpwstr>
  </property>
  <property fmtid="{D5CDD505-2E9C-101B-9397-08002B2CF9AE}" pid="3" name="KSOProductBuildVer">
    <vt:lpwstr>2057-12.2.0.22556</vt:lpwstr>
  </property>
</Properties>
</file>