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
  </p:notesMasterIdLst>
  <p:sldIdLst>
    <p:sldId id="256" r:id="rId3"/>
    <p:sldId id="312" r:id="rId5"/>
    <p:sldId id="293" r:id="rId6"/>
    <p:sldId id="294" r:id="rId7"/>
    <p:sldId id="313" r:id="rId8"/>
    <p:sldId id="295" r:id="rId9"/>
    <p:sldId id="296" r:id="rId10"/>
    <p:sldId id="301" r:id="rId11"/>
    <p:sldId id="302" r:id="rId12"/>
    <p:sldId id="306" r:id="rId13"/>
    <p:sldId id="307" r:id="rId14"/>
    <p:sldId id="31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showGuides="1">
      <p:cViewPr varScale="1">
        <p:scale>
          <a:sx n="63" d="100"/>
          <a:sy n="63" d="100"/>
        </p:scale>
        <p:origin x="61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4484BAD-8657-4978-A2B2-B1BBE7089EFE}" type="datetime1">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3.xml"/><Relationship Id="rId3" Type="http://schemas.openxmlformats.org/officeDocument/2006/relationships/hyperlink" Target="https://scholar.google.com/citations?view_op=list_works&amp;hl=en&amp;hl=en&amp;user=WXtW1XMAAAAJ" TargetMode="External"/><Relationship Id="rId2" Type="http://schemas.openxmlformats.org/officeDocument/2006/relationships/image" Target="../media/image1.png"/><Relationship Id="rId1" Type="http://schemas.openxmlformats.org/officeDocument/2006/relationships/hyperlink" Target="mailto:jubayer@aiub.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p:cNvSpPr>
            <a:spLocks noGrp="1" noRot="1" noChangeAspect="1" noMove="1" noResize="1" noEditPoints="1" noAdjustHandles="1" noChangeArrowheads="1" noChangeShapeType="1" noTextEdit="1"/>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a:spLocks noGrp="1" noRot="1" noChangeAspect="1" noMove="1" noResize="1" noEditPoints="1" noAdjustHandles="1" noChangeArrowheads="1" noChangeShapeType="1" noTextEdit="1"/>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p:cNvSpPr>
            <a:spLocks noGrp="1" noRot="1" noChangeAspect="1" noMove="1" noResize="1" noEditPoints="1" noAdjustHandles="1" noChangeArrowheads="1" noChangeShapeType="1" noTextEdit="1"/>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p:cNvSpPr>
            <a:spLocks noGrp="1" noRot="1" noChangeAspect="1" noMove="1" noResize="1" noEditPoints="1" noAdjustHandles="1" noChangeArrowheads="1" noChangeShapeType="1" noTextEdit="1"/>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a:spLocks noGrp="1" noRot="1" noChangeAspect="1" noMove="1" noResize="1" noEditPoints="1" noAdjustHandles="1" noChangeArrowheads="1" noChangeShapeType="1" noTextEdit="1"/>
          </p:cNvSpPr>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endParaRPr lang="en-US" sz="2400">
              <a:solidFill>
                <a:srgbClr val="FFFFFF"/>
              </a:solidFill>
            </a:endParaRPr>
          </a:p>
        </p:txBody>
      </p:sp>
      <p:sp>
        <p:nvSpPr>
          <p:cNvPr id="13" name="Rectangle 7"/>
          <p:cNvSpPr>
            <a:spLocks noGrp="1" noRot="1" noChangeAspect="1" noMove="1" noResize="1" noEditPoints="1" noAdjustHandles="1" noChangeArrowheads="1" noChangeShapeType="1" noTextEdit="1"/>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p:cNvSpPr>
            <a:spLocks noGrp="1" noRot="1" noChangeAspect="1" noMove="1" noResize="1" noEditPoints="1" noAdjustHandles="1" noChangeArrowheads="1" noChangeShapeType="1" noTextEdit="1"/>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p:cNvSpPr>
            <a:spLocks noGrp="1" noRot="1" noChangeAspect="1" noMove="1" noResize="1" noEditPoints="1" noAdjustHandles="1" noChangeArrowheads="1" noChangeShapeType="1" noTextEdit="1"/>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p:cNvSpPr>
            <a:spLocks noGrp="1" noRot="1" noChangeAspect="1" noMove="1" noResize="1" noEditPoints="1" noAdjustHandles="1" noChangeArrowheads="1" noChangeShapeType="1" noTextEdit="1"/>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p:cNvSpPr>
            <a:spLocks noGrp="1" noRot="1" noChangeAspect="1" noMove="1" noResize="1" noEditPoints="1" noAdjustHandles="1" noChangeArrowheads="1" noChangeShapeType="1" noTextEdit="1"/>
          </p:cNvSpPr>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p:cNvSpPr txBox="1"/>
          <p:nvPr/>
        </p:nvSpPr>
        <p:spPr>
          <a:xfrm>
            <a:off x="768267" y="1009397"/>
            <a:ext cx="3078342" cy="4801468"/>
          </a:xfrm>
          <a:prstGeom prst="rect">
            <a:avLst/>
          </a:prstGeom>
        </p:spPr>
        <p:txBody>
          <a:bodyPr vert="horz" lIns="91440" tIns="45720" rIns="91440" bIns="45720" rtlCol="0" anchor="ctr">
            <a:normAutofit/>
          </a:bodyPr>
          <a:lst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endParaRPr lang="en-US" sz="2400" cap="all" dirty="0">
              <a:solidFill>
                <a:srgbClr val="FFFFFF"/>
              </a:solidFill>
            </a:endParaRPr>
          </a:p>
          <a:p>
            <a:pPr marL="0" indent="0" algn="ctr">
              <a:buFont typeface="Wingdings 2" panose="05020102010507070707" pitchFamily="18" charset="2"/>
              <a:buNone/>
            </a:pPr>
            <a:r>
              <a:rPr lang="en-US" sz="2400" cap="all" dirty="0">
                <a:solidFill>
                  <a:srgbClr val="FFFFFF"/>
                </a:solidFill>
              </a:rPr>
              <a:t>CSC 3114</a:t>
            </a:r>
            <a:endParaRPr lang="en-US" sz="2400" cap="all" dirty="0">
              <a:solidFill>
                <a:srgbClr val="FFFFFF"/>
              </a:solidFill>
            </a:endParaRPr>
          </a:p>
          <a:p>
            <a:pPr marL="0" indent="0" algn="ctr">
              <a:buFont typeface="Wingdings 2" panose="05020102010507070707" pitchFamily="18" charset="2"/>
              <a:buNone/>
            </a:pPr>
            <a:r>
              <a:rPr lang="en-US" sz="2400" cap="all" dirty="0">
                <a:solidFill>
                  <a:srgbClr val="FFFFFF"/>
                </a:solidFill>
              </a:rPr>
              <a:t> (Undergraduate)</a:t>
            </a:r>
            <a:endParaRPr lang="en-US" sz="2400" cap="all" dirty="0">
              <a:solidFill>
                <a:srgbClr val="FFFFFF"/>
              </a:solidFill>
            </a:endParaRPr>
          </a:p>
        </p:txBody>
      </p:sp>
      <p:sp>
        <p:nvSpPr>
          <p:cNvPr id="23" name="Title 1"/>
          <p:cNvSpPr txBox="1"/>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4</a:t>
            </a:r>
            <a:br>
              <a:rPr lang="en-US" sz="3000" dirty="0">
                <a:solidFill>
                  <a:srgbClr val="C00000"/>
                </a:solidFill>
              </a:rPr>
            </a:br>
            <a:br>
              <a:rPr lang="en-US" sz="3000" dirty="0">
                <a:solidFill>
                  <a:schemeClr val="tx2"/>
                </a:solidFill>
              </a:rPr>
            </a:br>
            <a:r>
              <a:rPr lang="en-US" sz="3000" dirty="0">
                <a:solidFill>
                  <a:schemeClr val="tx2"/>
                </a:solidFill>
              </a:rPr>
              <a:t>agile software development</a:t>
            </a:r>
            <a:endParaRPr lang="en-US" sz="3000" dirty="0">
              <a:solidFill>
                <a:schemeClr val="tx2"/>
              </a:solidFill>
            </a:endParaRPr>
          </a:p>
        </p:txBody>
      </p:sp>
      <p:sp>
        <p:nvSpPr>
          <p:cNvPr id="24" name="Title 1"/>
          <p:cNvSpPr txBox="1"/>
          <p:nvPr/>
        </p:nvSpPr>
        <p:spPr>
          <a:xfrm>
            <a:off x="8956721" y="3752174"/>
            <a:ext cx="3074412"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rgbClr val="7030A0"/>
                </a:solidFill>
              </a:rPr>
              <a:t>Jubayer Ahamed</a:t>
            </a:r>
            <a:endParaRPr lang="en-US" sz="2800" dirty="0">
              <a:solidFill>
                <a:srgbClr val="7030A0"/>
              </a:solidFill>
            </a:endParaRPr>
          </a:p>
          <a:p>
            <a:r>
              <a:rPr lang="en-US" sz="2400" dirty="0">
                <a:solidFill>
                  <a:schemeClr val="tx1"/>
                </a:solidFill>
              </a:rPr>
              <a:t>Lecturer, CS,  AIUB</a:t>
            </a:r>
            <a:endParaRPr lang="en-US" sz="2400" dirty="0">
              <a:solidFill>
                <a:schemeClr val="tx1"/>
              </a:solidFill>
            </a:endParaRPr>
          </a:p>
          <a:p>
            <a:r>
              <a:rPr lang="en-US" sz="2400" cap="none" dirty="0">
                <a:solidFill>
                  <a:schemeClr val="tx1"/>
                </a:solidFill>
                <a:hlinkClick r:id="rId1"/>
              </a:rPr>
              <a:t>jubayer@aiub.edu</a:t>
            </a:r>
            <a:r>
              <a:rPr lang="en-US" sz="2400" cap="none" dirty="0">
                <a:solidFill>
                  <a:schemeClr val="tx1"/>
                </a:solidFill>
              </a:rPr>
              <a:t> </a:t>
            </a:r>
            <a:endParaRPr lang="en-US" sz="2800" cap="none" dirty="0"/>
          </a:p>
        </p:txBody>
      </p:sp>
      <p:cxnSp>
        <p:nvCxnSpPr>
          <p:cNvPr id="28" name="Straight Connector 27"/>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pic>
        <p:nvPicPr>
          <p:cNvPr id="2" name="Picture 2" descr="Google Scholar Logo PNG Vector (AI, PDF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1830" y="4911854"/>
            <a:ext cx="1946146" cy="194614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518797" y="5654786"/>
            <a:ext cx="5512336" cy="646331"/>
          </a:xfrm>
          <a:prstGeom prst="rect">
            <a:avLst/>
          </a:prstGeom>
          <a:noFill/>
        </p:spPr>
        <p:txBody>
          <a:bodyPr wrap="square" rtlCol="0">
            <a:spAutoFit/>
          </a:bodyPr>
          <a:lstStyle/>
          <a:p>
            <a:r>
              <a:rPr lang="en-US" dirty="0">
                <a:hlinkClick r:id="rId3"/>
              </a:rPr>
              <a:t>https://scholar.google.com/citations?view_op=list_works&amp;hl=en&amp;hl=en&amp;user=WXtW1XMAAAAJ</a:t>
            </a:r>
            <a:r>
              <a:rPr lang="en-US" dirty="0"/>
              <a:t>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What  is  an  agile  method?</a:t>
            </a:r>
            <a:endParaRPr lang="en-GB" dirty="0"/>
          </a:p>
        </p:txBody>
      </p:sp>
      <p:sp>
        <p:nvSpPr>
          <p:cNvPr id="3" name="Content Placeholder 2"/>
          <p:cNvSpPr>
            <a:spLocks noGrp="1"/>
          </p:cNvSpPr>
          <p:nvPr>
            <p:ph idx="1"/>
          </p:nvPr>
        </p:nvSpPr>
        <p:spPr>
          <a:xfrm>
            <a:off x="581192" y="2029097"/>
            <a:ext cx="10914122" cy="3630024"/>
          </a:xfrm>
        </p:spPr>
        <p:txBody>
          <a:bodyPr>
            <a:noAutofit/>
          </a:bodyPr>
          <a:lstStyle/>
          <a:p>
            <a:pPr>
              <a:lnSpc>
                <a:spcPct val="90000"/>
              </a:lnSpc>
              <a:buFont typeface="Wingdings" panose="05000000000000000000" pitchFamily="2" charset="2"/>
              <a:buChar char="q"/>
            </a:pPr>
            <a:r>
              <a:rPr lang="en-US" sz="2200" dirty="0">
                <a:latin typeface="+mj-lt"/>
                <a:cs typeface="Calibri" panose="020F0502020204030204" pitchFamily="34" charset="0"/>
              </a:rPr>
              <a:t>Agile methods are considered </a:t>
            </a:r>
            <a:endParaRPr lang="en-US" sz="2200" dirty="0">
              <a:latin typeface="+mj-lt"/>
              <a:cs typeface="Calibri" panose="020F0502020204030204" pitchFamily="34" charset="0"/>
            </a:endParaRPr>
          </a:p>
          <a:p>
            <a:pPr lvl="1">
              <a:lnSpc>
                <a:spcPct val="90000"/>
              </a:lnSpc>
              <a:buFont typeface="Wingdings" panose="05000000000000000000" pitchFamily="2" charset="2"/>
              <a:buChar char="§"/>
            </a:pPr>
            <a:r>
              <a:rPr lang="en-US" sz="2200" dirty="0">
                <a:solidFill>
                  <a:srgbClr val="C00000"/>
                </a:solidFill>
                <a:latin typeface="+mj-lt"/>
                <a:cs typeface="Calibri" panose="020F0502020204030204" pitchFamily="34" charset="0"/>
              </a:rPr>
              <a:t>  Lightweight (do not concentrate on the whole software development at once)</a:t>
            </a:r>
            <a:endParaRPr lang="en-US" sz="2200" dirty="0">
              <a:solidFill>
                <a:srgbClr val="C00000"/>
              </a:solidFill>
              <a:latin typeface="+mj-lt"/>
              <a:cs typeface="Calibri" panose="020F0502020204030204" pitchFamily="34" charset="0"/>
            </a:endParaRPr>
          </a:p>
          <a:p>
            <a:pPr lvl="1">
              <a:lnSpc>
                <a:spcPct val="90000"/>
              </a:lnSpc>
              <a:buFont typeface="Wingdings" panose="05000000000000000000" pitchFamily="2" charset="2"/>
              <a:buChar char="§"/>
            </a:pPr>
            <a:r>
              <a:rPr lang="en-US" sz="2200" dirty="0">
                <a:solidFill>
                  <a:srgbClr val="C00000"/>
                </a:solidFill>
                <a:latin typeface="+mj-lt"/>
                <a:cs typeface="Calibri" panose="020F0502020204030204" pitchFamily="34" charset="0"/>
              </a:rPr>
              <a:t>  People-based rather than Plan-based</a:t>
            </a:r>
            <a:endParaRPr lang="en-US" sz="2200" dirty="0">
              <a:solidFill>
                <a:srgbClr val="C00000"/>
              </a:solidFill>
              <a:latin typeface="+mj-lt"/>
              <a:cs typeface="Calibri" panose="020F0502020204030204" pitchFamily="34" charset="0"/>
            </a:endParaRPr>
          </a:p>
          <a:p>
            <a:pPr>
              <a:lnSpc>
                <a:spcPct val="90000"/>
              </a:lnSpc>
              <a:buFont typeface="Wingdings" panose="05000000000000000000" pitchFamily="2" charset="2"/>
              <a:buChar char="q"/>
            </a:pPr>
            <a:r>
              <a:rPr lang="en-US" sz="2200" dirty="0">
                <a:latin typeface="+mj-lt"/>
                <a:cs typeface="Calibri" panose="020F0502020204030204" pitchFamily="34" charset="0"/>
              </a:rPr>
              <a:t>Several agile methods</a:t>
            </a:r>
            <a:endParaRPr lang="en-US" sz="2200" dirty="0">
              <a:latin typeface="+mj-lt"/>
              <a:cs typeface="Calibri" panose="020F0502020204030204" pitchFamily="34" charset="0"/>
            </a:endParaRPr>
          </a:p>
          <a:p>
            <a:pPr lvl="1">
              <a:lnSpc>
                <a:spcPct val="90000"/>
              </a:lnSpc>
              <a:buFont typeface="Wingdings" panose="05000000000000000000" pitchFamily="2" charset="2"/>
              <a:buChar char="§"/>
            </a:pPr>
            <a:r>
              <a:rPr lang="en-US" sz="2200" dirty="0">
                <a:latin typeface="+mj-lt"/>
                <a:cs typeface="Calibri" panose="020F0502020204030204" pitchFamily="34" charset="0"/>
              </a:rPr>
              <a:t>  </a:t>
            </a:r>
            <a:r>
              <a:rPr lang="en-US" sz="2200" dirty="0">
                <a:solidFill>
                  <a:srgbClr val="C00000"/>
                </a:solidFill>
                <a:latin typeface="+mj-lt"/>
                <a:cs typeface="Calibri" panose="020F0502020204030204" pitchFamily="34" charset="0"/>
              </a:rPr>
              <a:t>No single agile method</a:t>
            </a:r>
            <a:endParaRPr lang="en-US" sz="2200" dirty="0">
              <a:solidFill>
                <a:srgbClr val="C00000"/>
              </a:solidFill>
              <a:latin typeface="+mj-lt"/>
              <a:cs typeface="Calibri" panose="020F0502020204030204" pitchFamily="34" charset="0"/>
            </a:endParaRPr>
          </a:p>
          <a:p>
            <a:pPr lvl="1">
              <a:lnSpc>
                <a:spcPct val="90000"/>
              </a:lnSpc>
              <a:buFont typeface="Wingdings" panose="05000000000000000000" pitchFamily="2" charset="2"/>
              <a:buChar char="§"/>
            </a:pPr>
            <a:r>
              <a:rPr lang="en-US" sz="2200" dirty="0">
                <a:solidFill>
                  <a:srgbClr val="C00000"/>
                </a:solidFill>
                <a:latin typeface="+mj-lt"/>
                <a:cs typeface="Calibri" panose="020F0502020204030204" pitchFamily="34" charset="0"/>
              </a:rPr>
              <a:t>  Different agile methods can be combined in software development (Hybrid) </a:t>
            </a:r>
            <a:endParaRPr lang="en-US" sz="2200" dirty="0">
              <a:solidFill>
                <a:srgbClr val="C00000"/>
              </a:solidFill>
              <a:latin typeface="+mj-lt"/>
              <a:cs typeface="Calibri" panose="020F0502020204030204" pitchFamily="34" charset="0"/>
            </a:endParaRPr>
          </a:p>
        </p:txBody>
      </p:sp>
      <p:sp>
        <p:nvSpPr>
          <p:cNvPr id="5" name="Slide Number Placeholder 3"/>
          <p:cNvSpPr txBox="1"/>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endParaRPr lang="en-US" sz="3800" dirty="0">
              <a:solidFill>
                <a:schemeClr val="bg1">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Agile  development</a:t>
            </a:r>
            <a:endParaRPr lang="en-GB" dirty="0"/>
          </a:p>
        </p:txBody>
      </p:sp>
      <p:sp>
        <p:nvSpPr>
          <p:cNvPr id="3" name="Content Placeholder 2"/>
          <p:cNvSpPr>
            <a:spLocks noGrp="1"/>
          </p:cNvSpPr>
          <p:nvPr>
            <p:ph idx="1"/>
          </p:nvPr>
        </p:nvSpPr>
        <p:spPr>
          <a:xfrm>
            <a:off x="724884" y="1972492"/>
            <a:ext cx="10914122" cy="4428308"/>
          </a:xfrm>
        </p:spPr>
        <p:txBody>
          <a:bodyPr>
            <a:normAutofit fontScale="92500" lnSpcReduction="10000"/>
          </a:bodyPr>
          <a:lstStyle/>
          <a:p>
            <a:pPr>
              <a:buNone/>
            </a:pPr>
            <a:r>
              <a:rPr lang="en-US" sz="2400" dirty="0">
                <a:latin typeface="+mj-lt"/>
                <a:cs typeface="Calibri" panose="020F0502020204030204" pitchFamily="34" charset="0"/>
              </a:rPr>
              <a:t>    </a:t>
            </a:r>
            <a:r>
              <a:rPr lang="en-US" sz="2400" dirty="0">
                <a:solidFill>
                  <a:srgbClr val="C00000"/>
                </a:solidFill>
                <a:latin typeface="+mj-lt"/>
                <a:cs typeface="Calibri" panose="020F0502020204030204" pitchFamily="34" charset="0"/>
              </a:rPr>
              <a:t>“Plan-driven methods work best when developers can determine the requirements in advance . . . and when the requirements remain relatively stable, with change rates on the order of one percent per month.”</a:t>
            </a:r>
            <a:r>
              <a:rPr lang="en-US" sz="2400" i="1" dirty="0">
                <a:solidFill>
                  <a:srgbClr val="C00000"/>
                </a:solidFill>
                <a:latin typeface="+mj-lt"/>
                <a:cs typeface="Calibri" panose="020F0502020204030204" pitchFamily="34" charset="0"/>
              </a:rPr>
              <a:t>~ Barry Boehm</a:t>
            </a:r>
            <a:endParaRPr lang="en-US" sz="2400" i="1" dirty="0">
              <a:solidFill>
                <a:srgbClr val="C00000"/>
              </a:solidFill>
              <a:latin typeface="+mj-lt"/>
              <a:cs typeface="Calibri" panose="020F0502020204030204" pitchFamily="34" charset="0"/>
            </a:endParaRPr>
          </a:p>
          <a:p>
            <a:pPr>
              <a:buNone/>
            </a:pPr>
            <a:endParaRPr lang="en-US" sz="2400" i="1" dirty="0">
              <a:latin typeface="+mj-lt"/>
              <a:cs typeface="Calibri" panose="020F0502020204030204" pitchFamily="34" charset="0"/>
            </a:endParaRPr>
          </a:p>
          <a:p>
            <a:pPr>
              <a:lnSpc>
                <a:spcPct val="90000"/>
              </a:lnSpc>
              <a:buFont typeface="Wingdings" panose="05000000000000000000" pitchFamily="2" charset="2"/>
              <a:buChar char="q"/>
            </a:pPr>
            <a:r>
              <a:rPr lang="en-US" sz="2400" dirty="0">
                <a:latin typeface="+mj-lt"/>
                <a:cs typeface="Calibri" panose="020F0502020204030204" pitchFamily="34" charset="0"/>
              </a:rPr>
              <a:t>Companies need to</a:t>
            </a:r>
            <a:endParaRPr lang="en-US" sz="2400" dirty="0">
              <a:latin typeface="+mj-lt"/>
              <a:cs typeface="Calibri" panose="020F0502020204030204" pitchFamily="34" charset="0"/>
            </a:endParaRPr>
          </a:p>
          <a:p>
            <a:pPr lvl="1">
              <a:lnSpc>
                <a:spcPct val="90000"/>
              </a:lnSpc>
              <a:buFont typeface="Wingdings" panose="05000000000000000000" pitchFamily="2" charset="2"/>
              <a:buChar char="§"/>
            </a:pPr>
            <a:r>
              <a:rPr lang="en-US" sz="2400" dirty="0">
                <a:latin typeface="+mj-lt"/>
                <a:cs typeface="Calibri" panose="020F0502020204030204" pitchFamily="34" charset="0"/>
              </a:rPr>
              <a:t>  innovate better and faster operations</a:t>
            </a:r>
            <a:endParaRPr lang="en-US" sz="2400" dirty="0">
              <a:latin typeface="+mj-lt"/>
              <a:cs typeface="Calibri" panose="020F0502020204030204" pitchFamily="34" charset="0"/>
            </a:endParaRPr>
          </a:p>
          <a:p>
            <a:pPr lvl="1">
              <a:lnSpc>
                <a:spcPct val="90000"/>
              </a:lnSpc>
              <a:buFont typeface="Wingdings" panose="05000000000000000000" pitchFamily="2" charset="2"/>
              <a:buChar char="§"/>
            </a:pPr>
            <a:r>
              <a:rPr lang="en-US" sz="2400" dirty="0">
                <a:latin typeface="+mj-lt"/>
                <a:cs typeface="Calibri" panose="020F0502020204030204" pitchFamily="34" charset="0"/>
              </a:rPr>
              <a:t>  respond quickly to</a:t>
            </a:r>
            <a:endParaRPr lang="en-US" sz="2400" dirty="0">
              <a:latin typeface="+mj-lt"/>
              <a:cs typeface="Calibri" panose="020F0502020204030204" pitchFamily="34" charset="0"/>
            </a:endParaRPr>
          </a:p>
          <a:p>
            <a:pPr lvl="2">
              <a:lnSpc>
                <a:spcPct val="90000"/>
              </a:lnSpc>
              <a:buFontTx/>
              <a:buChar char="-"/>
            </a:pPr>
            <a:r>
              <a:rPr lang="en-US" sz="2400" dirty="0">
                <a:solidFill>
                  <a:srgbClr val="C00000"/>
                </a:solidFill>
                <a:latin typeface="+mj-lt"/>
                <a:cs typeface="Calibri" panose="020F0502020204030204" pitchFamily="34" charset="0"/>
              </a:rPr>
              <a:t>  competitive initiatives</a:t>
            </a:r>
            <a:endParaRPr lang="en-US" sz="2400" dirty="0">
              <a:solidFill>
                <a:srgbClr val="C00000"/>
              </a:solidFill>
              <a:latin typeface="+mj-lt"/>
              <a:cs typeface="Calibri" panose="020F0502020204030204" pitchFamily="34" charset="0"/>
            </a:endParaRPr>
          </a:p>
          <a:p>
            <a:pPr lvl="2">
              <a:lnSpc>
                <a:spcPct val="90000"/>
              </a:lnSpc>
              <a:buFontTx/>
              <a:buChar char="-"/>
            </a:pPr>
            <a:r>
              <a:rPr lang="en-US" sz="2400" dirty="0">
                <a:solidFill>
                  <a:srgbClr val="C00000"/>
                </a:solidFill>
                <a:latin typeface="+mj-lt"/>
                <a:cs typeface="Calibri" panose="020F0502020204030204" pitchFamily="34" charset="0"/>
              </a:rPr>
              <a:t>  new technology</a:t>
            </a:r>
            <a:endParaRPr lang="en-US" sz="2400" dirty="0">
              <a:solidFill>
                <a:srgbClr val="C00000"/>
              </a:solidFill>
              <a:latin typeface="+mj-lt"/>
              <a:cs typeface="Calibri" panose="020F0502020204030204" pitchFamily="34" charset="0"/>
            </a:endParaRPr>
          </a:p>
          <a:p>
            <a:pPr lvl="2">
              <a:lnSpc>
                <a:spcPct val="90000"/>
              </a:lnSpc>
              <a:buFontTx/>
              <a:buChar char="-"/>
            </a:pPr>
            <a:r>
              <a:rPr lang="en-US" sz="2400" dirty="0">
                <a:solidFill>
                  <a:srgbClr val="C00000"/>
                </a:solidFill>
                <a:latin typeface="+mj-lt"/>
                <a:cs typeface="Calibri" panose="020F0502020204030204" pitchFamily="34" charset="0"/>
              </a:rPr>
              <a:t>  customer's requirements</a:t>
            </a:r>
            <a:endParaRPr lang="en-GB" sz="2200" dirty="0">
              <a:solidFill>
                <a:srgbClr val="C00000"/>
              </a:solidFill>
              <a:latin typeface="+mj-lt"/>
            </a:endParaRPr>
          </a:p>
        </p:txBody>
      </p:sp>
      <p:sp>
        <p:nvSpPr>
          <p:cNvPr id="5" name="Slide Number Placeholder 3"/>
          <p:cNvSpPr txBox="1"/>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endParaRPr lang="en-US" sz="3800" dirty="0">
              <a:solidFill>
                <a:schemeClr val="bg1">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Agile  Model</a:t>
            </a:r>
            <a:endParaRPr lang="en-GB" dirty="0"/>
          </a:p>
        </p:txBody>
      </p:sp>
      <p:sp>
        <p:nvSpPr>
          <p:cNvPr id="3" name="Content Placeholder 2"/>
          <p:cNvSpPr>
            <a:spLocks noGrp="1"/>
          </p:cNvSpPr>
          <p:nvPr>
            <p:ph idx="1"/>
          </p:nvPr>
        </p:nvSpPr>
        <p:spPr>
          <a:xfrm>
            <a:off x="478141" y="2006777"/>
            <a:ext cx="11288036" cy="4246104"/>
          </a:xfrm>
        </p:spPr>
        <p:txBody>
          <a:bodyPr>
            <a:normAutofit/>
          </a:bodyPr>
          <a:lstStyle/>
          <a:p>
            <a:pPr>
              <a:buFont typeface="Wingdings" panose="05000000000000000000" pitchFamily="2" charset="2"/>
              <a:buChar char="q"/>
            </a:pPr>
            <a:r>
              <a:rPr lang="en-US" sz="2200" dirty="0">
                <a:latin typeface="+mj-lt"/>
                <a:cs typeface="Calibri" panose="020F0502020204030204" pitchFamily="34" charset="0"/>
              </a:rPr>
              <a:t>Subset of iterative and evolutionary methods </a:t>
            </a:r>
            <a:endParaRPr lang="en-US" sz="2200" dirty="0">
              <a:latin typeface="+mj-lt"/>
              <a:cs typeface="Calibri" panose="020F0502020204030204" pitchFamily="34" charset="0"/>
            </a:endParaRPr>
          </a:p>
          <a:p>
            <a:pPr>
              <a:buNone/>
            </a:pPr>
            <a:r>
              <a:rPr lang="en-US" sz="2200" b="1" u="sng" dirty="0">
                <a:latin typeface="+mj-lt"/>
                <a:cs typeface="Calibri" panose="020F0502020204030204" pitchFamily="34" charset="0"/>
              </a:rPr>
              <a:t>Iterative Products</a:t>
            </a:r>
            <a:endParaRPr lang="en-US" sz="2200" b="1" u="sng" dirty="0">
              <a:latin typeface="+mj-lt"/>
              <a:cs typeface="Calibri" panose="020F0502020204030204" pitchFamily="34" charset="0"/>
            </a:endParaRPr>
          </a:p>
          <a:p>
            <a:pPr>
              <a:buFont typeface="Wingdings" panose="05000000000000000000" pitchFamily="2" charset="2"/>
              <a:buChar char="§"/>
            </a:pPr>
            <a:r>
              <a:rPr lang="en-US" sz="2200" dirty="0">
                <a:latin typeface="+mj-lt"/>
                <a:cs typeface="Calibri" panose="020F0502020204030204" pitchFamily="34" charset="0"/>
              </a:rPr>
              <a:t>Each iteration is a </a:t>
            </a:r>
            <a:r>
              <a:rPr lang="en-US" sz="2200" dirty="0">
                <a:solidFill>
                  <a:srgbClr val="FF0000"/>
                </a:solidFill>
                <a:latin typeface="+mj-lt"/>
                <a:cs typeface="Calibri" panose="020F0502020204030204" pitchFamily="34" charset="0"/>
              </a:rPr>
              <a:t>self-contained, mini-project </a:t>
            </a:r>
            <a:r>
              <a:rPr lang="en-US" sz="2200" dirty="0">
                <a:latin typeface="+mj-lt"/>
                <a:cs typeface="Calibri" panose="020F0502020204030204" pitchFamily="34" charset="0"/>
              </a:rPr>
              <a:t>with activities that span requirements analysis, design, implementation, and test</a:t>
            </a:r>
            <a:endParaRPr lang="en-US" sz="2200" dirty="0">
              <a:latin typeface="+mj-lt"/>
              <a:cs typeface="Calibri" panose="020F0502020204030204" pitchFamily="34" charset="0"/>
            </a:endParaRPr>
          </a:p>
          <a:p>
            <a:pPr>
              <a:buFont typeface="Wingdings" panose="05000000000000000000" pitchFamily="2" charset="2"/>
              <a:buChar char="§"/>
            </a:pPr>
            <a:r>
              <a:rPr lang="en-US" sz="2200" dirty="0">
                <a:latin typeface="+mj-lt"/>
                <a:cs typeface="Calibri" panose="020F0502020204030204" pitchFamily="34" charset="0"/>
              </a:rPr>
              <a:t>Leads to an iteration release (which may be only an </a:t>
            </a:r>
            <a:r>
              <a:rPr lang="en-US" sz="2200" dirty="0">
                <a:solidFill>
                  <a:srgbClr val="FF0000"/>
                </a:solidFill>
                <a:latin typeface="+mj-lt"/>
                <a:cs typeface="Calibri" panose="020F0502020204030204" pitchFamily="34" charset="0"/>
              </a:rPr>
              <a:t>internal release</a:t>
            </a:r>
            <a:r>
              <a:rPr lang="en-US" sz="2200" dirty="0">
                <a:latin typeface="+mj-lt"/>
                <a:cs typeface="Calibri" panose="020F0502020204030204" pitchFamily="34" charset="0"/>
              </a:rPr>
              <a:t>) that integrates all software across the team and is a growing and evolving subset of the final system</a:t>
            </a:r>
            <a:endParaRPr lang="en-US" sz="2200" dirty="0">
              <a:latin typeface="+mj-lt"/>
              <a:cs typeface="Calibri" panose="020F0502020204030204" pitchFamily="34" charset="0"/>
            </a:endParaRPr>
          </a:p>
          <a:p>
            <a:pPr>
              <a:buFont typeface="Wingdings" panose="05000000000000000000" pitchFamily="2" charset="2"/>
              <a:buChar char="§"/>
            </a:pPr>
            <a:r>
              <a:rPr lang="en-US" sz="2200" dirty="0">
                <a:latin typeface="+mj-lt"/>
                <a:cs typeface="Calibri" panose="020F0502020204030204" pitchFamily="34" charset="0"/>
              </a:rPr>
              <a:t>The purpose of having short iterations is so that feedback from iterations N and earlier, </a:t>
            </a:r>
            <a:br>
              <a:rPr lang="en-US" sz="2200" dirty="0">
                <a:latin typeface="+mj-lt"/>
                <a:cs typeface="Calibri" panose="020F0502020204030204" pitchFamily="34" charset="0"/>
              </a:rPr>
            </a:br>
            <a:r>
              <a:rPr lang="en-US" sz="2200" dirty="0">
                <a:latin typeface="+mj-lt"/>
                <a:cs typeface="Calibri" panose="020F0502020204030204" pitchFamily="34" charset="0"/>
              </a:rPr>
              <a:t>and any other new information, can </a:t>
            </a:r>
            <a:r>
              <a:rPr lang="en-US" sz="2200" dirty="0">
                <a:solidFill>
                  <a:srgbClr val="FF0000"/>
                </a:solidFill>
                <a:latin typeface="+mj-lt"/>
                <a:cs typeface="Calibri" panose="020F0502020204030204" pitchFamily="34" charset="0"/>
              </a:rPr>
              <a:t>lead to refinement </a:t>
            </a:r>
            <a:r>
              <a:rPr lang="en-US" sz="2200" dirty="0">
                <a:latin typeface="+mj-lt"/>
                <a:cs typeface="Calibri" panose="020F0502020204030204" pitchFamily="34" charset="0"/>
              </a:rPr>
              <a:t>and requirements adaptation for iteration N + 1</a:t>
            </a:r>
            <a:endParaRPr lang="en-GB" sz="2200" dirty="0">
              <a:solidFill>
                <a:srgbClr val="C00000"/>
              </a:solidFill>
              <a:latin typeface="+mj-lt"/>
            </a:endParaRPr>
          </a:p>
        </p:txBody>
      </p:sp>
      <p:sp>
        <p:nvSpPr>
          <p:cNvPr id="5" name="Slide Number Placeholder 3"/>
          <p:cNvSpPr txBox="1"/>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endParaRPr lang="en-US" sz="3800" dirty="0">
              <a:solidFill>
                <a:schemeClr val="bg1">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1" name="Rectangle 2060"/>
          <p:cNvSpPr>
            <a:spLocks noGrp="1" noRot="1" noChangeAspect="1" noMove="1" noResize="1" noEditPoints="1" noAdjustHandles="1" noChangeArrowheads="1" noChangeShapeType="1" noTextEdit="1"/>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3" name="Rectangle 2062"/>
          <p:cNvSpPr>
            <a:spLocks noGrp="1" noRot="1" noChangeAspect="1" noMove="1" noResize="1" noEditPoints="1" noAdjustHandles="1" noChangeArrowheads="1" noChangeShapeType="1" noTextEdit="1"/>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5" name="Rectangle 2064"/>
          <p:cNvSpPr>
            <a:spLocks noGrp="1" noRot="1" noChangeAspect="1" noMove="1" noResize="1" noEditPoints="1" noAdjustHandles="1" noChangeArrowheads="1" noChangeShapeType="1" noTextEdit="1"/>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7" name="Rectangle 2066"/>
          <p:cNvSpPr>
            <a:spLocks noGrp="1" noRot="1" noChangeAspect="1" noMove="1" noResize="1" noEditPoints="1" noAdjustHandles="1" noChangeArrowheads="1" noChangeShapeType="1" noTextEdit="1"/>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69" name="Rectangle 2068"/>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6" name="Picture 8" descr="What are Evolutionary Process Models? - GeeksforGeeks"/>
          <p:cNvPicPr>
            <a:picLocks noChangeAspect="1" noChangeArrowheads="1"/>
          </p:cNvPicPr>
          <p:nvPr/>
        </p:nvPicPr>
        <p:blipFill>
          <a:blip r:embed="rId1">
            <a:extLst>
              <a:ext uri="{28A0092B-C50C-407E-A947-70E740481C1C}">
                <a14:useLocalDpi xmlns:a14="http://schemas.microsoft.com/office/drawing/2010/main" val="0"/>
              </a:ext>
            </a:extLst>
          </a:blip>
          <a:srcRect l="2282" r="1" b="1"/>
          <a:stretch>
            <a:fillRect/>
          </a:stretch>
        </p:blipFill>
        <p:spPr bwMode="auto">
          <a:xfrm>
            <a:off x="446534" y="599724"/>
            <a:ext cx="5614416" cy="354787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terative Development: A Starter's Guid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7950" r="3" b="7979"/>
          <a:stretch>
            <a:fillRect/>
          </a:stretch>
        </p:blipFill>
        <p:spPr bwMode="auto">
          <a:xfrm>
            <a:off x="6116658" y="599724"/>
            <a:ext cx="5626608" cy="3547872"/>
          </a:xfrm>
          <a:prstGeom prst="rect">
            <a:avLst/>
          </a:prstGeom>
          <a:noFill/>
          <a:extLst>
            <a:ext uri="{909E8E84-426E-40DD-AFC4-6F175D3DCCD1}">
              <a14:hiddenFill xmlns:a14="http://schemas.microsoft.com/office/drawing/2010/main">
                <a:solidFill>
                  <a:srgbClr val="FFFFFF"/>
                </a:solidFill>
              </a14:hiddenFill>
            </a:ext>
          </a:extLst>
        </p:spPr>
      </p:pic>
      <p:sp>
        <p:nvSpPr>
          <p:cNvPr id="2071" name="Rectangle 2070"/>
          <p:cNvSpPr>
            <a:spLocks noGrp="1" noRot="1" noChangeAspect="1" noMove="1" noResize="1" noEditPoints="1" noAdjustHandles="1" noChangeArrowheads="1" noChangeShapeType="1" noTextEdit="1"/>
          </p:cNvSpPr>
          <p:nvPr/>
        </p:nvSpPr>
        <p:spPr>
          <a:xfrm>
            <a:off x="446533" y="4199467"/>
            <a:ext cx="11296733" cy="21910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627120" y="4319752"/>
            <a:ext cx="10947620" cy="1155959"/>
          </a:xfrm>
        </p:spPr>
        <p:txBody>
          <a:bodyPr vert="horz" lIns="91440" tIns="45720" rIns="91440" bIns="45720" rtlCol="0" anchor="b">
            <a:normAutofit/>
          </a:bodyPr>
          <a:lstStyle/>
          <a:p>
            <a:r>
              <a:rPr lang="en-US" sz="3600" dirty="0">
                <a:solidFill>
                  <a:srgbClr val="FFFFFF"/>
                </a:solidFill>
              </a:rPr>
              <a:t>Evolutionary + Iterative Model = Agile</a:t>
            </a:r>
            <a:endParaRPr lang="en-US" sz="3600" dirty="0">
              <a:solidFill>
                <a:srgbClr val="FFFFFF"/>
              </a:solidFill>
            </a:endParaRPr>
          </a:p>
        </p:txBody>
      </p:sp>
      <p:grpSp>
        <p:nvGrpSpPr>
          <p:cNvPr id="2073" name="Group 2072"/>
          <p:cNvGrpSpPr>
            <a:grpSpLocks noGrp="1" noRot="1" noChangeAspect="1" noMove="1" noResize="1" noUngrp="1"/>
          </p:cNvGrpSpPr>
          <p:nvPr/>
        </p:nvGrpSpPr>
        <p:grpSpPr>
          <a:xfrm>
            <a:off x="446534" y="453643"/>
            <a:ext cx="11298933" cy="98554"/>
            <a:chOff x="446534" y="453643"/>
            <a:chExt cx="11298933" cy="98554"/>
          </a:xfrm>
        </p:grpSpPr>
        <p:sp>
          <p:nvSpPr>
            <p:cNvPr id="2074" name="Rectangle 2073"/>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5" name="Rectangle 2074"/>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6" name="Rectangle 2075"/>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Slide Number Placeholder 3"/>
          <p:cNvSpPr>
            <a:spLocks noGrp="1"/>
          </p:cNvSpPr>
          <p:nvPr>
            <p:ph type="sldNum" sz="quarter" idx="12"/>
          </p:nvPr>
        </p:nvSpPr>
        <p:spPr>
          <a:xfrm>
            <a:off x="10558300" y="6428232"/>
            <a:ext cx="1016440" cy="365125"/>
          </a:xfrm>
        </p:spPr>
        <p:txBody>
          <a:bodyPr vert="horz" lIns="91440" tIns="45720" rIns="91440" bIns="45720" rtlCol="0" anchor="ctr">
            <a:normAutofit/>
          </a:bodyPr>
          <a:lstStyle/>
          <a:p>
            <a:pPr defTabSz="914400">
              <a:spcAft>
                <a:spcPts val="600"/>
              </a:spcAft>
            </a:pPr>
            <a:fld id="{D57F1E4F-1CFF-5643-939E-217C01CDF565}" type="slidenum">
              <a:rPr lang="en-US" smtClean="0">
                <a:solidFill>
                  <a:schemeClr val="accent1">
                    <a:lumMod val="75000"/>
                    <a:lumOff val="25000"/>
                  </a:schemeClr>
                </a:solidFill>
              </a:rPr>
            </a:fld>
            <a:endParaRPr lang="en-US">
              <a:solidFill>
                <a:schemeClr val="accent1">
                  <a:lumMod val="75000"/>
                  <a:lumOff val="2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Agile  methods  vs.  Past  Iterative  methods</a:t>
            </a:r>
            <a:endParaRPr lang="en-GB" dirty="0"/>
          </a:p>
        </p:txBody>
      </p:sp>
      <p:sp>
        <p:nvSpPr>
          <p:cNvPr id="3" name="Content Placeholder 2"/>
          <p:cNvSpPr>
            <a:spLocks noGrp="1"/>
          </p:cNvSpPr>
          <p:nvPr>
            <p:ph idx="1"/>
          </p:nvPr>
        </p:nvSpPr>
        <p:spPr>
          <a:xfrm>
            <a:off x="638939" y="2275207"/>
            <a:ext cx="10914122" cy="3396723"/>
          </a:xfrm>
        </p:spPr>
        <p:txBody>
          <a:bodyPr>
            <a:normAutofit/>
          </a:bodyPr>
          <a:lstStyle/>
          <a:p>
            <a:pPr>
              <a:lnSpc>
                <a:spcPct val="80000"/>
              </a:lnSpc>
              <a:buFont typeface="Wingdings" panose="05000000000000000000" pitchFamily="2" charset="2"/>
              <a:buChar char="q"/>
            </a:pPr>
            <a:r>
              <a:rPr lang="en-US" sz="2200" dirty="0">
                <a:latin typeface="+mj-lt"/>
                <a:cs typeface="Calibri" panose="020F0502020204030204" pitchFamily="34" charset="0"/>
              </a:rPr>
              <a:t> A key difference between agile methods and past iterative methods is the length of each  </a:t>
            </a:r>
            <a:br>
              <a:rPr lang="en-US" sz="2200" dirty="0">
                <a:latin typeface="+mj-lt"/>
                <a:cs typeface="Calibri" panose="020F0502020204030204" pitchFamily="34" charset="0"/>
              </a:rPr>
            </a:br>
            <a:r>
              <a:rPr lang="en-US" sz="2200" dirty="0">
                <a:latin typeface="+mj-lt"/>
                <a:cs typeface="Calibri" panose="020F0502020204030204" pitchFamily="34" charset="0"/>
              </a:rPr>
              <a:t> iteration.</a:t>
            </a:r>
            <a:br>
              <a:rPr lang="en-US" sz="2200" dirty="0">
                <a:latin typeface="+mj-lt"/>
                <a:cs typeface="Calibri" panose="020F0502020204030204" pitchFamily="34" charset="0"/>
              </a:rPr>
            </a:br>
            <a:endParaRPr lang="en-US" sz="2200" dirty="0">
              <a:latin typeface="+mj-lt"/>
              <a:cs typeface="Calibri" panose="020F0502020204030204" pitchFamily="34" charset="0"/>
            </a:endParaRPr>
          </a:p>
          <a:p>
            <a:pPr>
              <a:lnSpc>
                <a:spcPct val="80000"/>
              </a:lnSpc>
              <a:buFont typeface="Wingdings" panose="05000000000000000000" pitchFamily="2" charset="2"/>
              <a:buChar char="§"/>
            </a:pPr>
            <a:r>
              <a:rPr lang="en-US" sz="2200" dirty="0">
                <a:solidFill>
                  <a:srgbClr val="C00000"/>
                </a:solidFill>
                <a:latin typeface="+mj-lt"/>
                <a:cs typeface="Calibri" panose="020F0502020204030204" pitchFamily="34" charset="0"/>
              </a:rPr>
              <a:t>In the past, iterations might have been three or six months long.</a:t>
            </a:r>
            <a:endParaRPr lang="en-US" sz="2200" dirty="0">
              <a:solidFill>
                <a:srgbClr val="C00000"/>
              </a:solidFill>
              <a:latin typeface="+mj-lt"/>
              <a:cs typeface="Calibri" panose="020F0502020204030204" pitchFamily="34" charset="0"/>
            </a:endParaRPr>
          </a:p>
          <a:p>
            <a:pPr>
              <a:lnSpc>
                <a:spcPct val="80000"/>
              </a:lnSpc>
              <a:buFont typeface="Wingdings" panose="05000000000000000000" pitchFamily="2" charset="2"/>
              <a:buChar char="§"/>
            </a:pPr>
            <a:r>
              <a:rPr lang="en-US" sz="2200" dirty="0">
                <a:solidFill>
                  <a:srgbClr val="C00000"/>
                </a:solidFill>
                <a:latin typeface="+mj-lt"/>
                <a:cs typeface="Calibri" panose="020F0502020204030204" pitchFamily="34" charset="0"/>
              </a:rPr>
              <a:t>In agile methods, iteration lengths vary between one to four weeks and intentionally</a:t>
            </a:r>
            <a:br>
              <a:rPr lang="en-US" sz="2200" dirty="0">
                <a:solidFill>
                  <a:srgbClr val="C00000"/>
                </a:solidFill>
                <a:latin typeface="+mj-lt"/>
                <a:cs typeface="Calibri" panose="020F0502020204030204" pitchFamily="34" charset="0"/>
              </a:rPr>
            </a:br>
            <a:r>
              <a:rPr lang="en-US" sz="2200" dirty="0">
                <a:solidFill>
                  <a:srgbClr val="C00000"/>
                </a:solidFill>
                <a:latin typeface="+mj-lt"/>
                <a:cs typeface="Calibri" panose="020F0502020204030204" pitchFamily="34" charset="0"/>
              </a:rPr>
              <a:t>do not exceed 30 days.</a:t>
            </a:r>
            <a:endParaRPr lang="en-US" sz="2200" dirty="0">
              <a:solidFill>
                <a:srgbClr val="C00000"/>
              </a:solidFill>
              <a:latin typeface="+mj-lt"/>
              <a:cs typeface="Calibri" panose="020F0502020204030204" pitchFamily="34" charset="0"/>
            </a:endParaRPr>
          </a:p>
          <a:p>
            <a:pPr>
              <a:lnSpc>
                <a:spcPct val="80000"/>
              </a:lnSpc>
              <a:buFont typeface="Wingdings" panose="05000000000000000000" pitchFamily="2" charset="2"/>
              <a:buChar char="§"/>
            </a:pPr>
            <a:r>
              <a:rPr lang="en-US" sz="2200" dirty="0">
                <a:solidFill>
                  <a:srgbClr val="C00000"/>
                </a:solidFill>
                <a:latin typeface="+mj-lt"/>
                <a:cs typeface="Calibri" panose="020F0502020204030204" pitchFamily="34" charset="0"/>
              </a:rPr>
              <a:t>Research has shown that shorter iterations have lower complexity and risk, better   feedback, and higher productivity and success rates.</a:t>
            </a:r>
            <a:endParaRPr lang="en-US" sz="2200" dirty="0">
              <a:solidFill>
                <a:srgbClr val="C00000"/>
              </a:solidFill>
              <a:latin typeface="+mj-lt"/>
              <a:cs typeface="Calibri" panose="020F0502020204030204" pitchFamily="34" charset="0"/>
            </a:endParaRPr>
          </a:p>
          <a:p>
            <a:pPr>
              <a:buFont typeface="Wingdings" panose="05000000000000000000" pitchFamily="2" charset="2"/>
              <a:buChar char="q"/>
            </a:pPr>
            <a:endParaRPr lang="en-GB" sz="2200" dirty="0">
              <a:solidFill>
                <a:srgbClr val="C00000"/>
              </a:solidFill>
              <a:latin typeface="+mj-lt"/>
            </a:endParaRPr>
          </a:p>
        </p:txBody>
      </p:sp>
      <p:sp>
        <p:nvSpPr>
          <p:cNvPr id="5" name="Slide Number Placeholder 3"/>
          <p:cNvSpPr txBox="1"/>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endParaRPr lang="en-US" sz="3800" dirty="0">
              <a:solidFill>
                <a:schemeClr val="bg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cs typeface="Calibri" panose="020F0502020204030204" pitchFamily="34" charset="0"/>
              </a:rPr>
              <a:t>Timebox</a:t>
            </a:r>
            <a:r>
              <a:rPr lang="en-US" dirty="0">
                <a:cs typeface="Calibri" panose="020F0502020204030204" pitchFamily="34" charset="0"/>
              </a:rPr>
              <a:t>  &amp;  scope</a:t>
            </a:r>
            <a:endParaRPr lang="en-GB" dirty="0"/>
          </a:p>
        </p:txBody>
      </p:sp>
      <p:sp>
        <p:nvSpPr>
          <p:cNvPr id="3" name="Content Placeholder 2"/>
          <p:cNvSpPr>
            <a:spLocks noGrp="1"/>
          </p:cNvSpPr>
          <p:nvPr>
            <p:ph idx="1"/>
          </p:nvPr>
        </p:nvSpPr>
        <p:spPr>
          <a:xfrm>
            <a:off x="659569" y="2116182"/>
            <a:ext cx="10914122" cy="2416629"/>
          </a:xfrm>
        </p:spPr>
        <p:txBody>
          <a:bodyPr>
            <a:normAutofit/>
          </a:bodyPr>
          <a:lstStyle/>
          <a:p>
            <a:pPr>
              <a:buFont typeface="Wingdings" panose="05000000000000000000" pitchFamily="2" charset="2"/>
              <a:buChar char="q"/>
            </a:pPr>
            <a:r>
              <a:rPr lang="en-US" sz="2200" dirty="0">
                <a:latin typeface="+mj-lt"/>
                <a:cs typeface="Calibri" panose="020F0502020204030204" pitchFamily="34" charset="0"/>
              </a:rPr>
              <a:t> The pre-determined iteration length serves as a </a:t>
            </a:r>
            <a:r>
              <a:rPr lang="en-US" sz="2200" dirty="0" err="1">
                <a:latin typeface="+mj-lt"/>
                <a:cs typeface="Calibri" panose="020F0502020204030204" pitchFamily="34" charset="0"/>
              </a:rPr>
              <a:t>timebox</a:t>
            </a:r>
            <a:r>
              <a:rPr lang="en-US" sz="2200" dirty="0">
                <a:latin typeface="+mj-lt"/>
                <a:cs typeface="Calibri" panose="020F0502020204030204" pitchFamily="34" charset="0"/>
              </a:rPr>
              <a:t> for the team. </a:t>
            </a:r>
            <a:endParaRPr lang="en-US" sz="2200" dirty="0">
              <a:latin typeface="+mj-lt"/>
              <a:cs typeface="Calibri" panose="020F0502020204030204" pitchFamily="34" charset="0"/>
            </a:endParaRPr>
          </a:p>
          <a:p>
            <a:pPr>
              <a:buFont typeface="Wingdings" panose="05000000000000000000" pitchFamily="2" charset="2"/>
              <a:buChar char="q"/>
            </a:pPr>
            <a:r>
              <a:rPr lang="en-US" sz="2200" dirty="0">
                <a:latin typeface="+mj-lt"/>
                <a:cs typeface="Calibri" panose="020F0502020204030204" pitchFamily="34" charset="0"/>
              </a:rPr>
              <a:t> Scope (set of tasks) is chosen for each iteration to fill the iteration length. </a:t>
            </a:r>
            <a:endParaRPr lang="en-US" sz="2200" dirty="0">
              <a:latin typeface="+mj-lt"/>
              <a:cs typeface="Calibri" panose="020F0502020204030204" pitchFamily="34" charset="0"/>
            </a:endParaRPr>
          </a:p>
          <a:p>
            <a:pPr>
              <a:buFont typeface="Wingdings" panose="05000000000000000000" pitchFamily="2" charset="2"/>
              <a:buChar char="q"/>
            </a:pPr>
            <a:r>
              <a:rPr lang="en-US" sz="2200" dirty="0">
                <a:solidFill>
                  <a:srgbClr val="FF0000"/>
                </a:solidFill>
                <a:latin typeface="+mj-lt"/>
                <a:cs typeface="Calibri" panose="020F0502020204030204" pitchFamily="34" charset="0"/>
              </a:rPr>
              <a:t> Rather than increase the iteration length to fit the chosen scope, </a:t>
            </a:r>
            <a:br>
              <a:rPr lang="en-US" sz="2200" dirty="0">
                <a:solidFill>
                  <a:srgbClr val="FF0000"/>
                </a:solidFill>
                <a:latin typeface="+mj-lt"/>
                <a:cs typeface="Calibri" panose="020F0502020204030204" pitchFamily="34" charset="0"/>
              </a:rPr>
            </a:br>
            <a:r>
              <a:rPr lang="en-US" sz="2200" dirty="0">
                <a:solidFill>
                  <a:srgbClr val="FF0000"/>
                </a:solidFill>
                <a:latin typeface="+mj-lt"/>
                <a:cs typeface="Calibri" panose="020F0502020204030204" pitchFamily="34" charset="0"/>
              </a:rPr>
              <a:t> the scope is reduced to fit the iteration length.</a:t>
            </a:r>
            <a:endParaRPr lang="en-US" sz="2200" dirty="0">
              <a:solidFill>
                <a:srgbClr val="FF0000"/>
              </a:solidFill>
              <a:latin typeface="+mj-lt"/>
              <a:cs typeface="Calibri" panose="020F0502020204030204" pitchFamily="34" charset="0"/>
            </a:endParaRPr>
          </a:p>
          <a:p>
            <a:pPr>
              <a:lnSpc>
                <a:spcPct val="80000"/>
              </a:lnSpc>
              <a:buFont typeface="Wingdings" panose="05000000000000000000" pitchFamily="2" charset="2"/>
              <a:buChar char="q"/>
            </a:pPr>
            <a:endParaRPr lang="en-GB" sz="2200" dirty="0">
              <a:solidFill>
                <a:srgbClr val="C00000"/>
              </a:solidFill>
              <a:latin typeface="+mj-lt"/>
            </a:endParaRPr>
          </a:p>
        </p:txBody>
      </p:sp>
      <p:sp>
        <p:nvSpPr>
          <p:cNvPr id="5" name="Slide Number Placeholder 3"/>
          <p:cNvSpPr txBox="1"/>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endParaRPr lang="en-US" sz="3800" dirty="0">
              <a:solidFill>
                <a:schemeClr val="bg1">
                  <a:lumMod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Agile  vs.  Plan  driven  process</a:t>
            </a:r>
            <a:endParaRPr lang="en-GB" dirty="0"/>
          </a:p>
        </p:txBody>
      </p:sp>
      <p:sp>
        <p:nvSpPr>
          <p:cNvPr id="5" name="Slide Number Placeholder 3"/>
          <p:cNvSpPr txBox="1"/>
          <p:nvPr/>
        </p:nvSpPr>
        <p:spPr>
          <a:xfrm>
            <a:off x="11766177" y="605118"/>
            <a:ext cx="251652" cy="988551"/>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646609" y="2102394"/>
          <a:ext cx="10665824" cy="4075611"/>
        </p:xfrm>
        <a:graphic>
          <a:graphicData uri="http://schemas.openxmlformats.org/drawingml/2006/table">
            <a:tbl>
              <a:tblPr firstRow="1" bandRow="1">
                <a:tableStyleId>{5C22544A-7EE6-4342-B048-85BDC9FD1C3A}</a:tableStyleId>
              </a:tblPr>
              <a:tblGrid>
                <a:gridCol w="5332912"/>
                <a:gridCol w="5332912"/>
              </a:tblGrid>
              <a:tr h="484052">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200" b="1" dirty="0">
                          <a:solidFill>
                            <a:schemeClr val="tx1">
                              <a:lumMod val="95000"/>
                              <a:lumOff val="5000"/>
                            </a:schemeClr>
                          </a:solidFill>
                          <a:latin typeface="+mj-lt"/>
                        </a:rPr>
                        <a:t>Agile Process</a:t>
                      </a:r>
                      <a:endParaRPr lang="en-US" sz="2200" b="1" dirty="0">
                        <a:solidFill>
                          <a:schemeClr val="tx1">
                            <a:lumMod val="95000"/>
                            <a:lumOff val="5000"/>
                          </a:schemeClr>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200" b="1" dirty="0">
                          <a:solidFill>
                            <a:schemeClr val="tx1">
                              <a:lumMod val="95000"/>
                              <a:lumOff val="5000"/>
                            </a:schemeClr>
                          </a:solidFill>
                          <a:latin typeface="+mj-lt"/>
                        </a:rPr>
                        <a:t>Plan Driven Process</a:t>
                      </a:r>
                      <a:endParaRPr lang="en-US" sz="2200" b="1" dirty="0">
                        <a:solidFill>
                          <a:schemeClr val="tx1">
                            <a:lumMod val="95000"/>
                            <a:lumOff val="5000"/>
                          </a:schemeClr>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r h="788391">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solidFill>
                            <a:schemeClr val="tx1"/>
                          </a:solidFill>
                          <a:latin typeface="+mj-lt"/>
                          <a:cs typeface="Calibri" panose="020F0502020204030204" pitchFamily="34" charset="0"/>
                        </a:rPr>
                        <a:t>Small products and teams; scalability limited</a:t>
                      </a:r>
                      <a:endParaRPr lang="en-US" sz="20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solidFill>
                            <a:schemeClr val="tx1"/>
                          </a:solidFill>
                          <a:latin typeface="+mj-lt"/>
                          <a:cs typeface="Calibri" panose="020F0502020204030204" pitchFamily="34" charset="0"/>
                        </a:rPr>
                        <a:t>Large products and teams; hard to scale down</a:t>
                      </a:r>
                      <a:endParaRPr lang="en-US" sz="20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88391">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mj-lt"/>
                          <a:cs typeface="Calibri" panose="020F0502020204030204" pitchFamily="34" charset="0"/>
                        </a:rPr>
                        <a:t>Inappropriate</a:t>
                      </a:r>
                      <a:r>
                        <a:rPr lang="en-US" sz="2000" b="0" baseline="0" dirty="0">
                          <a:latin typeface="+mj-lt"/>
                          <a:cs typeface="Calibri" panose="020F0502020204030204" pitchFamily="34" charset="0"/>
                        </a:rPr>
                        <a:t> for </a:t>
                      </a:r>
                      <a:r>
                        <a:rPr lang="en-US" sz="2000" b="0" dirty="0">
                          <a:latin typeface="+mj-lt"/>
                          <a:cs typeface="Calibri" panose="020F0502020204030204" pitchFamily="34" charset="0"/>
                        </a:rPr>
                        <a:t>safety-critical products because of frequent changes</a:t>
                      </a:r>
                      <a:endParaRPr lang="en-US" sz="20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mj-lt"/>
                          <a:cs typeface="Calibri" panose="020F0502020204030204" pitchFamily="34" charset="0"/>
                        </a:rPr>
                        <a:t>Handles highly critical products</a:t>
                      </a:r>
                      <a:endParaRPr lang="en-US" sz="20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88391">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mj-lt"/>
                          <a:cs typeface="Calibri" panose="020F0502020204030204" pitchFamily="34" charset="0"/>
                        </a:rPr>
                        <a:t>Good for dynamic, but expensive for stable environments.</a:t>
                      </a:r>
                      <a:endParaRPr lang="en-US" sz="20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mj-lt"/>
                          <a:cs typeface="Calibri" panose="020F0502020204030204" pitchFamily="34" charset="0"/>
                        </a:rPr>
                        <a:t>Good for stable, but expensive for dynamic environments</a:t>
                      </a:r>
                      <a:endParaRPr lang="en-US" sz="20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88391">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mj-lt"/>
                          <a:cs typeface="Calibri" panose="020F0502020204030204" pitchFamily="34" charset="0"/>
                        </a:rPr>
                        <a:t>Require experienced Agile personnel throughout</a:t>
                      </a:r>
                      <a:endParaRPr lang="en-US" sz="20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mj-lt"/>
                          <a:cs typeface="Calibri" panose="020F0502020204030204" pitchFamily="34" charset="0"/>
                        </a:rPr>
                        <a:t>Require experienced personnel only at start if stable environment</a:t>
                      </a:r>
                      <a:endParaRPr lang="en-US" sz="20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7995">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mj-lt"/>
                          <a:cs typeface="Calibri" panose="020F0502020204030204" pitchFamily="34" charset="0"/>
                        </a:rPr>
                        <a:t>Personnel succeed on freedom and chaos</a:t>
                      </a:r>
                      <a:endParaRPr lang="en-US" sz="20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mj-lt"/>
                          <a:cs typeface="Calibri" panose="020F0502020204030204" pitchFamily="34" charset="0"/>
                        </a:rPr>
                        <a:t>Personnel succeed on structure and order</a:t>
                      </a:r>
                      <a:endParaRPr lang="en-US" sz="2000" b="0" dirty="0">
                        <a:solidFill>
                          <a:schemeClr val="tx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3"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endParaRPr lang="en-US" sz="3800" dirty="0">
              <a:solidFill>
                <a:schemeClr val="bg1">
                  <a:lumMod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Agile  assumption</a:t>
            </a:r>
            <a:endParaRPr lang="en-GB" dirty="0"/>
          </a:p>
        </p:txBody>
      </p:sp>
      <p:sp>
        <p:nvSpPr>
          <p:cNvPr id="3" name="Content Placeholder 2"/>
          <p:cNvSpPr>
            <a:spLocks noGrp="1"/>
          </p:cNvSpPr>
          <p:nvPr>
            <p:ph idx="1"/>
          </p:nvPr>
        </p:nvSpPr>
        <p:spPr>
          <a:xfrm>
            <a:off x="400685" y="1842770"/>
            <a:ext cx="11238865" cy="4900295"/>
          </a:xfrm>
        </p:spPr>
        <p:txBody>
          <a:bodyPr>
            <a:noAutofit/>
          </a:bodyPr>
          <a:lstStyle/>
          <a:p>
            <a:pPr marL="90805">
              <a:lnSpc>
                <a:spcPct val="100000"/>
              </a:lnSpc>
              <a:buFont typeface="Wingdings" panose="05000000000000000000" pitchFamily="2" charset="2"/>
              <a:buChar char="q"/>
            </a:pPr>
            <a:r>
              <a:rPr lang="en-US" sz="2200" dirty="0">
                <a:latin typeface="+mj-lt"/>
              </a:rPr>
              <a:t>It is difficult to predict in advance which software </a:t>
            </a:r>
            <a:endParaRPr lang="en-US" sz="2200" dirty="0">
              <a:latin typeface="+mj-lt"/>
            </a:endParaRPr>
          </a:p>
          <a:p>
            <a:pPr marL="414655" lvl="1">
              <a:lnSpc>
                <a:spcPct val="100000"/>
              </a:lnSpc>
            </a:pPr>
            <a:r>
              <a:rPr lang="en-US" sz="2200" dirty="0">
                <a:solidFill>
                  <a:srgbClr val="C00000"/>
                </a:solidFill>
                <a:latin typeface="+mj-lt"/>
              </a:rPr>
              <a:t>requirements will persist and which will change</a:t>
            </a:r>
            <a:endParaRPr lang="en-US" sz="2200" dirty="0">
              <a:solidFill>
                <a:srgbClr val="C00000"/>
              </a:solidFill>
              <a:latin typeface="+mj-lt"/>
            </a:endParaRPr>
          </a:p>
          <a:p>
            <a:pPr marL="414655" lvl="1">
              <a:lnSpc>
                <a:spcPct val="100000"/>
              </a:lnSpc>
            </a:pPr>
            <a:r>
              <a:rPr lang="en-US" sz="2200" dirty="0">
                <a:solidFill>
                  <a:srgbClr val="C00000"/>
                </a:solidFill>
                <a:latin typeface="+mj-lt"/>
              </a:rPr>
              <a:t>It is equally difficult to predict how customer priorities will change as the project proceeds</a:t>
            </a:r>
            <a:endParaRPr lang="en-US" sz="2200" dirty="0">
              <a:solidFill>
                <a:srgbClr val="C00000"/>
              </a:solidFill>
              <a:latin typeface="+mj-lt"/>
            </a:endParaRPr>
          </a:p>
          <a:p>
            <a:pPr marL="108585" lvl="1" indent="0">
              <a:lnSpc>
                <a:spcPct val="100000"/>
              </a:lnSpc>
              <a:buNone/>
            </a:pPr>
            <a:endParaRPr lang="en-US" sz="2200" dirty="0">
              <a:latin typeface="+mj-lt"/>
            </a:endParaRPr>
          </a:p>
          <a:p>
            <a:pPr marL="90805">
              <a:lnSpc>
                <a:spcPct val="100000"/>
              </a:lnSpc>
              <a:buFont typeface="Wingdings" panose="05000000000000000000" pitchFamily="2" charset="2"/>
              <a:buChar char="q"/>
            </a:pPr>
            <a:r>
              <a:rPr lang="en-US" sz="2200" dirty="0"/>
              <a:t>Design and construction are interleaved in</a:t>
            </a:r>
            <a:r>
              <a:rPr lang="en-US" sz="2200" dirty="0">
                <a:latin typeface="+mj-lt"/>
              </a:rPr>
              <a:t> many types of software. That is, both activities should be performed tightly so that design models are proven as they are created. It is difficult to predict how much design is necessary before construction is used to prove the design.</a:t>
            </a:r>
            <a:endParaRPr lang="en-US" sz="2200" dirty="0">
              <a:latin typeface="+mj-lt"/>
            </a:endParaRPr>
          </a:p>
          <a:p>
            <a:pPr marL="0" indent="0">
              <a:lnSpc>
                <a:spcPct val="100000"/>
              </a:lnSpc>
              <a:buFont typeface="Wingdings" panose="05000000000000000000" pitchFamily="2" charset="2"/>
              <a:buNone/>
            </a:pPr>
            <a:endParaRPr lang="en-US" sz="2200" dirty="0">
              <a:latin typeface="+mj-lt"/>
            </a:endParaRPr>
          </a:p>
          <a:p>
            <a:pPr marL="90805">
              <a:lnSpc>
                <a:spcPct val="100000"/>
              </a:lnSpc>
              <a:buFont typeface="Wingdings" panose="05000000000000000000" pitchFamily="2" charset="2"/>
              <a:buChar char="q"/>
            </a:pPr>
            <a:r>
              <a:rPr lang="en-US" sz="2200" dirty="0">
                <a:latin typeface="+mj-lt"/>
              </a:rPr>
              <a:t>Analysis, design, construction, and testing are not as predictable (from a planning point of view) as we might like.</a:t>
            </a:r>
            <a:endParaRPr lang="en-US" sz="2200" dirty="0">
              <a:solidFill>
                <a:srgbClr val="002060"/>
              </a:solidFill>
              <a:latin typeface="+mj-lt"/>
              <a:cs typeface="Calibri" panose="020F0502020204030204" pitchFamily="34" charset="0"/>
            </a:endParaRPr>
          </a:p>
        </p:txBody>
      </p:sp>
      <p:sp>
        <p:nvSpPr>
          <p:cNvPr id="5" name="Slide Number Placeholder 3"/>
          <p:cNvSpPr txBox="1"/>
          <p:nvPr/>
        </p:nvSpPr>
        <p:spPr>
          <a:xfrm>
            <a:off x="11766177" y="605118"/>
            <a:ext cx="212463" cy="115836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endParaRPr lang="en-US" sz="3800" dirty="0">
              <a:solidFill>
                <a:schemeClr val="bg1">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Human  factors  in  agile  development</a:t>
            </a:r>
            <a:endParaRPr lang="en-GB" dirty="0"/>
          </a:p>
        </p:txBody>
      </p:sp>
      <p:sp>
        <p:nvSpPr>
          <p:cNvPr id="3" name="Content Placeholder 2"/>
          <p:cNvSpPr>
            <a:spLocks noGrp="1"/>
          </p:cNvSpPr>
          <p:nvPr>
            <p:ph idx="1"/>
          </p:nvPr>
        </p:nvSpPr>
        <p:spPr>
          <a:xfrm>
            <a:off x="685696" y="1985555"/>
            <a:ext cx="10914122" cy="3526971"/>
          </a:xfrm>
        </p:spPr>
        <p:txBody>
          <a:bodyPr>
            <a:noAutofit/>
          </a:bodyPr>
          <a:lstStyle/>
          <a:p>
            <a:pPr>
              <a:buFont typeface="Wingdings" panose="05000000000000000000" pitchFamily="2" charset="2"/>
              <a:buChar char="q"/>
            </a:pPr>
            <a:r>
              <a:rPr lang="en-US" sz="2000" dirty="0">
                <a:latin typeface="+mj-lt"/>
              </a:rPr>
              <a:t>  Skill / Capability</a:t>
            </a:r>
            <a:endParaRPr lang="en-US" sz="2000" dirty="0">
              <a:latin typeface="+mj-lt"/>
            </a:endParaRPr>
          </a:p>
          <a:p>
            <a:pPr>
              <a:buFont typeface="Wingdings" panose="05000000000000000000" pitchFamily="2" charset="2"/>
              <a:buChar char="q"/>
            </a:pPr>
            <a:r>
              <a:rPr lang="en-US" sz="2000" dirty="0">
                <a:latin typeface="+mj-lt"/>
              </a:rPr>
              <a:t>  Common focus </a:t>
            </a:r>
            <a:endParaRPr lang="en-US" sz="2000" dirty="0">
              <a:latin typeface="+mj-lt"/>
            </a:endParaRPr>
          </a:p>
          <a:p>
            <a:pPr>
              <a:buFont typeface="Wingdings" panose="05000000000000000000" pitchFamily="2" charset="2"/>
              <a:buChar char="q"/>
            </a:pPr>
            <a:r>
              <a:rPr lang="en-US" sz="2000" dirty="0">
                <a:latin typeface="+mj-lt"/>
              </a:rPr>
              <a:t>  Collaboration</a:t>
            </a:r>
            <a:endParaRPr lang="en-US" sz="2000" dirty="0">
              <a:latin typeface="+mj-lt"/>
            </a:endParaRPr>
          </a:p>
          <a:p>
            <a:pPr>
              <a:buFont typeface="Wingdings" panose="05000000000000000000" pitchFamily="2" charset="2"/>
              <a:buChar char="q"/>
            </a:pPr>
            <a:r>
              <a:rPr lang="en-US" sz="2000" dirty="0">
                <a:latin typeface="+mj-lt"/>
              </a:rPr>
              <a:t>  Decision-making ability</a:t>
            </a:r>
            <a:endParaRPr lang="en-US" sz="2000" dirty="0">
              <a:latin typeface="+mj-lt"/>
            </a:endParaRPr>
          </a:p>
          <a:p>
            <a:pPr>
              <a:buFont typeface="Wingdings" panose="05000000000000000000" pitchFamily="2" charset="2"/>
              <a:buChar char="q"/>
            </a:pPr>
            <a:r>
              <a:rPr lang="en-US" sz="2000" dirty="0">
                <a:latin typeface="+mj-lt"/>
              </a:rPr>
              <a:t>  Fuzzy problem-solving ability</a:t>
            </a:r>
            <a:endParaRPr lang="en-US" sz="2000" dirty="0">
              <a:latin typeface="+mj-lt"/>
            </a:endParaRPr>
          </a:p>
          <a:p>
            <a:pPr>
              <a:buFont typeface="Wingdings" panose="05000000000000000000" pitchFamily="2" charset="2"/>
              <a:buChar char="q"/>
            </a:pPr>
            <a:r>
              <a:rPr lang="en-US" sz="2000" dirty="0">
                <a:latin typeface="+mj-lt"/>
              </a:rPr>
              <a:t>  Mutual trust and respect</a:t>
            </a:r>
            <a:endParaRPr lang="en-US" sz="2000" dirty="0">
              <a:latin typeface="+mj-lt"/>
            </a:endParaRPr>
          </a:p>
          <a:p>
            <a:pPr>
              <a:buFont typeface="Wingdings" panose="05000000000000000000" pitchFamily="2" charset="2"/>
              <a:buChar char="q"/>
            </a:pPr>
            <a:r>
              <a:rPr lang="en-US" sz="2000" dirty="0">
                <a:latin typeface="+mj-lt"/>
              </a:rPr>
              <a:t>  Self-organization</a:t>
            </a:r>
            <a:endParaRPr lang="en-US" sz="2000" dirty="0">
              <a:solidFill>
                <a:srgbClr val="002060"/>
              </a:solidFill>
              <a:latin typeface="+mj-lt"/>
              <a:cs typeface="Calibri" panose="020F0502020204030204" pitchFamily="34" charset="0"/>
            </a:endParaRPr>
          </a:p>
        </p:txBody>
      </p:sp>
      <p:sp>
        <p:nvSpPr>
          <p:cNvPr id="5" name="Slide Number Placeholder 3"/>
          <p:cNvSpPr txBox="1"/>
          <p:nvPr/>
        </p:nvSpPr>
        <p:spPr>
          <a:xfrm>
            <a:off x="11766177" y="605118"/>
            <a:ext cx="212463" cy="115836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endParaRPr lang="en-US" sz="3800" dirty="0">
              <a:solidFill>
                <a:schemeClr val="bg1">
                  <a:lumMod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Agile  methods</a:t>
            </a:r>
            <a:endParaRPr lang="en-GB" dirty="0"/>
          </a:p>
        </p:txBody>
      </p:sp>
      <p:sp>
        <p:nvSpPr>
          <p:cNvPr id="3" name="Content Placeholder 2"/>
          <p:cNvSpPr>
            <a:spLocks noGrp="1"/>
          </p:cNvSpPr>
          <p:nvPr>
            <p:ph idx="1"/>
          </p:nvPr>
        </p:nvSpPr>
        <p:spPr>
          <a:xfrm>
            <a:off x="685696" y="1985555"/>
            <a:ext cx="10914122" cy="3526971"/>
          </a:xfrm>
        </p:spPr>
        <p:txBody>
          <a:bodyPr>
            <a:noAutofit/>
          </a:bodyPr>
          <a:lstStyle/>
          <a:p>
            <a:pPr>
              <a:lnSpc>
                <a:spcPct val="90000"/>
              </a:lnSpc>
              <a:buFont typeface="Wingdings" panose="05000000000000000000" pitchFamily="2" charset="2"/>
              <a:buChar char="q"/>
            </a:pPr>
            <a:r>
              <a:rPr lang="en-US" sz="2000" dirty="0">
                <a:highlight>
                  <a:srgbClr val="00FFFF"/>
                </a:highlight>
                <a:latin typeface="+mj-lt"/>
                <a:cs typeface="Calibri" panose="020F0502020204030204" pitchFamily="34" charset="0"/>
              </a:rPr>
              <a:t> Extreme Programming (XP)</a:t>
            </a:r>
            <a:endParaRPr lang="en-US" sz="2000" dirty="0">
              <a:highlight>
                <a:srgbClr val="00FFFF"/>
              </a:highlight>
              <a:latin typeface="+mj-lt"/>
              <a:cs typeface="Calibri" panose="020F0502020204030204" pitchFamily="34" charset="0"/>
            </a:endParaRPr>
          </a:p>
          <a:p>
            <a:pPr>
              <a:lnSpc>
                <a:spcPct val="90000"/>
              </a:lnSpc>
              <a:buFont typeface="Wingdings" panose="05000000000000000000" pitchFamily="2" charset="2"/>
              <a:buChar char="q"/>
            </a:pPr>
            <a:r>
              <a:rPr lang="en-US" sz="2000" dirty="0">
                <a:highlight>
                  <a:srgbClr val="00FFFF"/>
                </a:highlight>
                <a:latin typeface="+mj-lt"/>
                <a:cs typeface="Calibri" panose="020F0502020204030204" pitchFamily="34" charset="0"/>
              </a:rPr>
              <a:t> Scrum</a:t>
            </a:r>
            <a:endParaRPr lang="en-US" sz="2000" dirty="0">
              <a:highlight>
                <a:srgbClr val="00FFFF"/>
              </a:highlight>
              <a:latin typeface="+mj-lt"/>
              <a:cs typeface="Calibri" panose="020F0502020204030204" pitchFamily="34" charset="0"/>
            </a:endParaRPr>
          </a:p>
          <a:p>
            <a:pPr>
              <a:lnSpc>
                <a:spcPct val="90000"/>
              </a:lnSpc>
              <a:buFont typeface="Wingdings" panose="05000000000000000000" pitchFamily="2" charset="2"/>
              <a:buChar char="q"/>
            </a:pPr>
            <a:r>
              <a:rPr lang="en-US" sz="2000" dirty="0">
                <a:highlight>
                  <a:srgbClr val="00FFFF"/>
                </a:highlight>
                <a:latin typeface="+mj-lt"/>
                <a:cs typeface="Calibri" panose="020F0502020204030204" pitchFamily="34" charset="0"/>
              </a:rPr>
              <a:t> Dynamic Systems Development Method (DSDM)</a:t>
            </a:r>
            <a:endParaRPr lang="en-US" sz="2000" dirty="0">
              <a:highlight>
                <a:srgbClr val="00FFFF"/>
              </a:highlight>
              <a:latin typeface="+mj-lt"/>
              <a:cs typeface="Calibri" panose="020F0502020204030204" pitchFamily="34" charset="0"/>
            </a:endParaRPr>
          </a:p>
          <a:p>
            <a:pPr>
              <a:lnSpc>
                <a:spcPct val="90000"/>
              </a:lnSpc>
              <a:buFont typeface="Wingdings" panose="05000000000000000000" pitchFamily="2" charset="2"/>
              <a:buChar char="q"/>
            </a:pPr>
            <a:r>
              <a:rPr lang="en-US" sz="2000" dirty="0">
                <a:highlight>
                  <a:srgbClr val="00FFFF"/>
                </a:highlight>
                <a:latin typeface="+mj-lt"/>
                <a:cs typeface="Calibri" panose="020F0502020204030204" pitchFamily="34" charset="0"/>
              </a:rPr>
              <a:t> Feature-Driven Development (FDD)</a:t>
            </a:r>
            <a:endParaRPr lang="en-US" sz="2000" dirty="0">
              <a:highlight>
                <a:srgbClr val="00FFFF"/>
              </a:highlight>
              <a:latin typeface="+mj-lt"/>
              <a:cs typeface="Calibri" panose="020F0502020204030204" pitchFamily="34" charset="0"/>
            </a:endParaRPr>
          </a:p>
          <a:p>
            <a:pPr>
              <a:lnSpc>
                <a:spcPct val="90000"/>
              </a:lnSpc>
              <a:buFont typeface="Wingdings" panose="05000000000000000000" pitchFamily="2" charset="2"/>
              <a:buChar char="q"/>
            </a:pPr>
            <a:r>
              <a:rPr lang="en-US" sz="2000" dirty="0">
                <a:latin typeface="+mj-lt"/>
                <a:cs typeface="Calibri" panose="020F0502020204030204" pitchFamily="34" charset="0"/>
              </a:rPr>
              <a:t> Crystal Methods</a:t>
            </a:r>
            <a:endParaRPr lang="en-US" sz="2000" dirty="0">
              <a:latin typeface="+mj-lt"/>
              <a:cs typeface="Calibri" panose="020F0502020204030204" pitchFamily="34" charset="0"/>
            </a:endParaRPr>
          </a:p>
          <a:p>
            <a:pPr>
              <a:lnSpc>
                <a:spcPct val="90000"/>
              </a:lnSpc>
              <a:buFont typeface="Wingdings" panose="05000000000000000000" pitchFamily="2" charset="2"/>
              <a:buChar char="q"/>
            </a:pPr>
            <a:r>
              <a:rPr lang="en-US" sz="2000" dirty="0">
                <a:latin typeface="+mj-lt"/>
                <a:cs typeface="Calibri" panose="020F0502020204030204" pitchFamily="34" charset="0"/>
              </a:rPr>
              <a:t> Lean Development (LD)</a:t>
            </a:r>
            <a:endParaRPr lang="en-US" sz="2000" dirty="0">
              <a:latin typeface="+mj-lt"/>
              <a:cs typeface="Calibri" panose="020F0502020204030204" pitchFamily="34" charset="0"/>
            </a:endParaRPr>
          </a:p>
          <a:p>
            <a:pPr>
              <a:lnSpc>
                <a:spcPct val="90000"/>
              </a:lnSpc>
              <a:buFont typeface="Wingdings" panose="05000000000000000000" pitchFamily="2" charset="2"/>
              <a:buChar char="q"/>
            </a:pPr>
            <a:r>
              <a:rPr lang="en-US" sz="2000" dirty="0">
                <a:latin typeface="+mj-lt"/>
                <a:cs typeface="Calibri" panose="020F0502020204030204" pitchFamily="34" charset="0"/>
              </a:rPr>
              <a:t> Adaptive Software Development (ASD)</a:t>
            </a:r>
            <a:endParaRPr lang="en-US" sz="2000" dirty="0">
              <a:latin typeface="+mj-lt"/>
              <a:cs typeface="Calibri" panose="020F0502020204030204" pitchFamily="34" charset="0"/>
            </a:endParaRPr>
          </a:p>
        </p:txBody>
      </p:sp>
      <p:sp>
        <p:nvSpPr>
          <p:cNvPr id="5" name="Slide Number Placeholder 3"/>
          <p:cNvSpPr txBox="1"/>
          <p:nvPr/>
        </p:nvSpPr>
        <p:spPr>
          <a:xfrm>
            <a:off x="11766177" y="605118"/>
            <a:ext cx="212463" cy="1158367"/>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endParaRPr lang="en-US" sz="3800" dirty="0">
              <a:solidFill>
                <a:schemeClr val="bg1">
                  <a:lumMod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endParaRPr lang="en-GB" dirty="0"/>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MS PGothic" panose="020B0600070205080204" pitchFamily="34" charset="-128"/>
              </a:rPr>
              <a:t>R.S. Pressman &amp; Associates, Inc. (2010). </a:t>
            </a:r>
            <a:r>
              <a:rPr lang="en-US" sz="2000" i="1" dirty="0">
                <a:ea typeface="MS PGothic" panose="020B0600070205080204" pitchFamily="34" charset="-128"/>
              </a:rPr>
              <a:t>Software Engineering: A Practitioner’s Approach.</a:t>
            </a:r>
            <a:endParaRPr lang="en-US" sz="2000" i="1" dirty="0">
              <a:ea typeface="MS PGothic" panose="020B0600070205080204" pitchFamily="34" charset="-128"/>
            </a:endParaRP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endParaRPr lang="en-US" sz="2000" dirty="0"/>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MS PGothic" panose="020B0600070205080204"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a:t>
            </a:r>
            <a:r>
              <a:rPr kumimoji="0" lang="en-US" sz="1400" b="1" i="0" u="none" strike="noStrike" kern="1200" cap="none" spc="0" normalizeH="0" baseline="0" noProof="0">
                <a:ln>
                  <a:noFill/>
                </a:ln>
                <a:solidFill>
                  <a:schemeClr val="accent2"/>
                </a:solidFill>
                <a:effectLst/>
                <a:uLnTx/>
                <a:uFillTx/>
                <a:latin typeface="+mn-lt"/>
                <a:ea typeface="+mn-ea"/>
                <a:cs typeface="+mn-cs"/>
              </a:rPr>
              <a:t>- 12</a:t>
            </a:r>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endParaRPr lang="en-US" sz="3800" dirty="0">
              <a:solidFill>
                <a:schemeClr val="bg1">
                  <a:lumMod val="50000"/>
                </a:schemeClr>
              </a:solidFill>
            </a:endParaRPr>
          </a:p>
        </p:txBody>
      </p:sp>
    </p:spTree>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4391</Words>
  <Application>WPS Presentation</Application>
  <PresentationFormat>Widescreen</PresentationFormat>
  <Paragraphs>164</Paragraphs>
  <Slides>12</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Wingdings 2</vt:lpstr>
      <vt:lpstr>Wingdings</vt:lpstr>
      <vt:lpstr>Calibri</vt:lpstr>
      <vt:lpstr>MS PGothic</vt:lpstr>
      <vt:lpstr>PMingLiU</vt:lpstr>
      <vt:lpstr>Gill Sans MT</vt:lpstr>
      <vt:lpstr>Microsoft YaHei</vt:lpstr>
      <vt:lpstr>Arial Unicode MS</vt:lpstr>
      <vt:lpstr>MingLiU-ExtB</vt:lpstr>
      <vt:lpstr>Dividend</vt:lpstr>
      <vt:lpstr>PowerPoint 演示文稿</vt:lpstr>
      <vt:lpstr>What  is  an  agile  method?</vt:lpstr>
      <vt:lpstr>Agile  development</vt:lpstr>
      <vt:lpstr>Agile  Model</vt:lpstr>
      <vt:lpstr>Evolutionary + Iterative Model = Agile</vt:lpstr>
      <vt:lpstr>Agile  methods  vs.  Past  Iterative  methods</vt:lpstr>
      <vt:lpstr>Timebox  &amp;  scope</vt:lpstr>
      <vt:lpstr>Agile  vs.  Plan  driven  process</vt:lpstr>
      <vt:lpstr>Agile  assumption</vt:lpstr>
      <vt:lpstr>Human  factors  in  agile  development</vt:lpstr>
      <vt:lpstr>Agile  methods</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Ch.03 - Agile Software Development</dc:title>
  <dc:creator>M. Mahmudul Hasan</dc:creator>
  <dc:subject>Software Engineering</dc:subject>
  <cp:lastModifiedBy>Teacher</cp:lastModifiedBy>
  <cp:revision>41</cp:revision>
  <dcterms:created xsi:type="dcterms:W3CDTF">2019-05-13T08:37:00Z</dcterms:created>
  <dcterms:modified xsi:type="dcterms:W3CDTF">2025-11-05T07:54:16Z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0981D422E1634E1198217059F80DF053_12</vt:lpwstr>
  </property>
  <property fmtid="{D5CDD505-2E9C-101B-9397-08002B2CF9AE}" pid="3" name="KSOProductBuildVer">
    <vt:lpwstr>2057-12.2.0.23149</vt:lpwstr>
  </property>
</Properties>
</file>