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7" r:id="rId3"/>
    <p:sldId id="263" r:id="rId5"/>
    <p:sldId id="264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98" r:id="rId30"/>
    <p:sldId id="299" r:id="rId31"/>
    <p:sldId id="300" r:id="rId32"/>
    <p:sldId id="301" r:id="rId33"/>
    <p:sldId id="302" r:id="rId34"/>
    <p:sldId id="303" r:id="rId35"/>
    <p:sldId id="304" r:id="rId36"/>
    <p:sldId id="305" r:id="rId37"/>
    <p:sldId id="306" r:id="rId38"/>
    <p:sldId id="333" r:id="rId39"/>
  </p:sldIdLst>
  <p:sldSz cx="9144000" cy="51435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2432053-898F-4C5B-8F2C-E218B7E9BDE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378a57c908_0_1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378a57c908_0_1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31d982f3c2_0_5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31d982f3c2_0_5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39b4041853_0_24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39b4041853_0_24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39b4041853_0_16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39b4041853_0_16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31d982f3c2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31d982f3c2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39b4041853_0_25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39b4041853_0_25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31d982f3c2_0_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31d982f3c2_0_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39b4041853_0_17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39b4041853_0_17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31b10d53fd_0_2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31b10d53fd_0_2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39b4041853_0_25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39b4041853_0_25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39b4041853_0_17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39b4041853_0_17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31d982f3c2_0_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31d982f3c2_0_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31d982f3c2_0_1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31d982f3c2_0_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39b4041853_0_26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39b4041853_0_26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31d982f3c2_0_1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31d982f3c2_0_1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39b4041853_0_22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39b4041853_0_2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31d982f3c2_0_2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31d982f3c2_0_2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39b4041853_0_27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39b4041853_0_27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31d982f3c2_0_2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31d982f3c2_0_2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39b4041853_0_23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39b4041853_0_2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31d982f3c2_0_8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31d982f3c2_0_8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31d982f3c2_0_9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31d982f3c2_0_9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39b4041853_0_10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39b4041853_0_10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39b4041853_0_11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39b4041853_0_1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39b4041853_0_12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39b4041853_0_12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39b4041853_0_10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39b4041853_0_10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31d982f3c2_0_9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31d982f3c2_0_9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39b4041853_0_15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39b4041853_0_15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39b4041853_0_1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39b4041853_0_1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39b4041853_0_15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39b4041853_0_15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39b4041853_0_1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39b4041853_0_1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3a0d67e24b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3a0d67e24b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3a0d67e24b_0_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3a0d67e24b_0_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3a0d67e24b_0_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3a0d67e24b_0_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3a0d67e24b_0_1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3a0d67e24b_0_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378e0d03a7_1_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3378e0d03a7_1_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Title Only">
    <p:bg>
      <p:bgPr>
        <a:solidFill>
          <a:srgbClr val="254471"/>
        </a:solidFill>
        <a:effectLst/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913068" y="511633"/>
            <a:ext cx="5321512" cy="38482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/>
          <p:nvPr>
            <p:ph type="title"/>
          </p:nvPr>
        </p:nvSpPr>
        <p:spPr>
          <a:xfrm>
            <a:off x="509664" y="231208"/>
            <a:ext cx="8124900" cy="10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sz="3100" b="0" i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type="ftr" idx="11"/>
          </p:nvPr>
        </p:nvSpPr>
        <p:spPr>
          <a:xfrm>
            <a:off x="3108960" y="4783455"/>
            <a:ext cx="29259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"/>
              <a:buNone/>
              <a:defRPr sz="6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54" name="Google Shape;54;p13"/>
          <p:cNvSpPr txBox="1"/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55" name="Google Shape;55;p13"/>
          <p:cNvSpPr txBox="1"/>
          <p:nvPr>
            <p:ph type="sldNum" idx="12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687704" y="457257"/>
            <a:ext cx="6007500" cy="5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sz="3300" b="0" i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type="body" idx="1"/>
          </p:nvPr>
        </p:nvSpPr>
        <p:spPr>
          <a:xfrm>
            <a:off x="687704" y="1309688"/>
            <a:ext cx="7770000" cy="29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lvl="1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0" name="Google Shape;60;p14"/>
          <p:cNvSpPr txBox="1"/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1" name="Google Shape;61;p14"/>
          <p:cNvSpPr txBox="1"/>
          <p:nvPr>
            <p:ph type="sldNum" idx="12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687704" y="457257"/>
            <a:ext cx="6007500" cy="5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sz="3300" b="0" i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type="body" idx="1"/>
          </p:nvPr>
        </p:nvSpPr>
        <p:spPr>
          <a:xfrm>
            <a:off x="1030796" y="1474051"/>
            <a:ext cx="1852800" cy="30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lvl="1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type="body" idx="2"/>
          </p:nvPr>
        </p:nvSpPr>
        <p:spPr>
          <a:xfrm>
            <a:off x="470916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7" name="Google Shape;67;p15"/>
          <p:cNvSpPr txBox="1"/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8" name="Google Shape;68;p15"/>
          <p:cNvSpPr txBox="1"/>
          <p:nvPr>
            <p:ph type="sldNum" idx="12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447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jpe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8.jpeg"/><Relationship Id="rId1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1" Type="http://schemas.openxmlformats.org/officeDocument/2006/relationships/image" Target="../media/image11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4.jpe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Topic 2: Software Processes &amp; Process Models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3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Waterfall Model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Waterfall Model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17" name="Google Shape;117;p24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GB">
                <a:solidFill>
                  <a:schemeClr val="lt1"/>
                </a:solidFill>
              </a:rPr>
              <a:t>A linear and sequential software development approach.</a:t>
            </a:r>
            <a:endParaRPr>
              <a:solidFill>
                <a:schemeClr val="lt1"/>
              </a:solidFill>
            </a:endParaRPr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GB">
                <a:solidFill>
                  <a:schemeClr val="lt1"/>
                </a:solidFill>
              </a:rPr>
              <a:t>A phase cannot begin until the previous phase is completed.</a:t>
            </a:r>
            <a:endParaRPr>
              <a:solidFill>
                <a:schemeClr val="lt1"/>
              </a:solidFill>
            </a:endParaRPr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GB">
                <a:solidFill>
                  <a:schemeClr val="lt1"/>
                </a:solidFill>
              </a:rPr>
              <a:t>No overlapping of phases is allowed.</a:t>
            </a:r>
            <a:endParaRPr>
              <a:solidFill>
                <a:schemeClr val="lt1"/>
              </a:solidFill>
            </a:endParaRPr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GB">
                <a:solidFill>
                  <a:schemeClr val="lt1"/>
                </a:solidFill>
              </a:rPr>
              <a:t>A step-by-step flow, similar to water falling from a cliff—it cannot go back up.</a:t>
            </a:r>
            <a:endParaRPr>
              <a:solidFill>
                <a:schemeClr val="lt1"/>
              </a:solidFill>
            </a:endParaRPr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GB">
                <a:solidFill>
                  <a:schemeClr val="lt1"/>
                </a:solidFill>
              </a:rPr>
              <a:t>The output of one phase serves as the input for the next phase.</a:t>
            </a:r>
            <a:endParaRPr>
              <a:solidFill>
                <a:schemeClr val="lt1"/>
              </a:solidFill>
            </a:endParaRPr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GB">
                <a:solidFill>
                  <a:schemeClr val="lt1"/>
                </a:solidFill>
              </a:rPr>
              <a:t>Commonly used for small and well-defined projects with clear requirements.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7" name="Google Shape;127;p26"/>
          <p:cNvGraphicFramePr/>
          <p:nvPr/>
        </p:nvGraphicFramePr>
        <p:xfrm>
          <a:off x="28575" y="329700"/>
          <a:ext cx="9086850" cy="3000000"/>
        </p:xfrm>
        <a:graphic>
          <a:graphicData uri="http://schemas.openxmlformats.org/drawingml/2006/table">
            <a:tbl>
              <a:tblPr>
                <a:noFill/>
                <a:tableStyleId>{02432053-898F-4C5B-8F2C-E218B7E9BDE5}</a:tableStyleId>
              </a:tblPr>
              <a:tblGrid>
                <a:gridCol w="1428750"/>
                <a:gridCol w="3305175"/>
                <a:gridCol w="4352925"/>
              </a:tblGrid>
              <a:tr h="2286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Aspect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✅ Advantages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❌ Disadvantages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</a:tr>
              <a:tr h="190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Simplicity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Easy to understand &amp; implement.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Too rigid and inflexible for real-world applications.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</a:tr>
              <a:tr h="371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Best for Small Projects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Works well for small &amp; defined projects.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Not suitable for large or complex systems.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</a:tr>
              <a:tr h="190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Management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Easy to manage </a:t>
                      </a:r>
                      <a:r>
                        <a:rPr lang="en-GB">
                          <a:solidFill>
                            <a:schemeClr val="lt1"/>
                          </a:solidFill>
                        </a:rPr>
                        <a:t>with </a:t>
                      </a:r>
                      <a:r>
                        <a:rPr lang="en-GB">
                          <a:solidFill>
                            <a:schemeClr val="lt1"/>
                          </a:solidFill>
                        </a:rPr>
                        <a:t>clear phases.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Changes are difficult to implement.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</a:tr>
              <a:tr h="371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Structured Approach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Each phase is well-documented and follows a logical order.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No overlapping of phases, which slows down development.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</a:tr>
              <a:tr h="371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Requirement Stability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End goal is determined early, avoiding scope creep.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Requires complete &amp; accurate requirements upfront, which is often unrealistic.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</a:tr>
              <a:tr h="371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Testing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Testing is done after development, reducing confusion.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Testing occurs late, making error detection costly.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</a:tr>
              <a:tr h="190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Risk Management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Basic framework for other models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Risks are not assessed, leading to high uncertainty.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</a:tr>
              <a:tr h="371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Time to Market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Predictable timeline due to its structured nature.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Working software is not available for a long time, delaying user feedback.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7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V</a:t>
            </a:r>
            <a:r>
              <a:rPr lang="en-GB">
                <a:solidFill>
                  <a:schemeClr val="lt1"/>
                </a:solidFill>
              </a:rPr>
              <a:t> Model (Verification and Validation Model)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V Model (Verification and Validation Model)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8" name="Google Shape;138;p28"/>
          <p:cNvSpPr txBox="1"/>
          <p:nvPr>
            <p:ph type="body" idx="1"/>
          </p:nvPr>
        </p:nvSpPr>
        <p:spPr>
          <a:xfrm>
            <a:off x="311700" y="1152475"/>
            <a:ext cx="8598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457200" lvl="0" indent="-33401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GB">
                <a:solidFill>
                  <a:schemeClr val="lt1"/>
                </a:solidFill>
              </a:rPr>
              <a:t>A structured and disciplined SDLC approach.</a:t>
            </a:r>
            <a:endParaRPr>
              <a:solidFill>
                <a:schemeClr val="lt1"/>
              </a:solidFill>
            </a:endParaRPr>
          </a:p>
          <a:p>
            <a:pPr marL="457200" lvl="0" indent="-33401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GB">
                <a:solidFill>
                  <a:schemeClr val="lt1"/>
                </a:solidFill>
              </a:rPr>
              <a:t>A sequential execution - each phase starts only after the previous phase ends.</a:t>
            </a:r>
            <a:endParaRPr>
              <a:solidFill>
                <a:schemeClr val="lt1"/>
              </a:solidFill>
            </a:endParaRPr>
          </a:p>
          <a:p>
            <a:pPr marL="457200" lvl="0" indent="-33401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GB">
                <a:solidFill>
                  <a:schemeClr val="lt1"/>
                </a:solidFill>
              </a:rPr>
              <a:t>Testing is integrated with developmen</a:t>
            </a:r>
            <a:r>
              <a:rPr lang="en-GB">
                <a:solidFill>
                  <a:schemeClr val="lt1"/>
                </a:solidFill>
              </a:rPr>
              <a:t>t - </a:t>
            </a:r>
            <a:r>
              <a:rPr lang="en-GB">
                <a:solidFill>
                  <a:schemeClr val="lt1"/>
                </a:solidFill>
              </a:rPr>
              <a:t>each development phase has a corresponding testing phase.</a:t>
            </a:r>
            <a:endParaRPr>
              <a:solidFill>
                <a:schemeClr val="lt1"/>
              </a:solidFill>
            </a:endParaRPr>
          </a:p>
          <a:p>
            <a:pPr marL="457200" lvl="0" indent="-33401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GB">
                <a:solidFill>
                  <a:schemeClr val="lt1"/>
                </a:solidFill>
              </a:rPr>
              <a:t>The model forms a V-shape, where:</a:t>
            </a:r>
            <a:endParaRPr>
              <a:solidFill>
                <a:schemeClr val="lt1"/>
              </a:solidFill>
            </a:endParaRPr>
          </a:p>
          <a:p>
            <a:pPr marL="914400" lvl="1" indent="-31051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○"/>
            </a:pPr>
            <a:r>
              <a:rPr lang="en-GB">
                <a:solidFill>
                  <a:schemeClr val="lt1"/>
                </a:solidFill>
              </a:rPr>
              <a:t>Left side → Represents development activities.</a:t>
            </a:r>
            <a:endParaRPr>
              <a:solidFill>
                <a:schemeClr val="lt1"/>
              </a:solidFill>
            </a:endParaRPr>
          </a:p>
          <a:p>
            <a:pPr marL="914400" lvl="1" indent="-31051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○"/>
            </a:pPr>
            <a:r>
              <a:rPr lang="en-GB">
                <a:solidFill>
                  <a:schemeClr val="lt1"/>
                </a:solidFill>
              </a:rPr>
              <a:t>Right side → Represents testing activities.</a:t>
            </a:r>
            <a:endParaRPr>
              <a:solidFill>
                <a:schemeClr val="lt1"/>
              </a:solidFill>
            </a:endParaRPr>
          </a:p>
          <a:p>
            <a:pPr marL="914400" lvl="1" indent="-31051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○"/>
            </a:pPr>
            <a:r>
              <a:rPr lang="en-GB">
                <a:solidFill>
                  <a:schemeClr val="lt1"/>
                </a:solidFill>
              </a:rPr>
              <a:t>Coding phase → Acts as the connection between both sides.</a:t>
            </a:r>
            <a:endParaRPr>
              <a:solidFill>
                <a:schemeClr val="lt1"/>
              </a:solidFill>
            </a:endParaRPr>
          </a:p>
          <a:p>
            <a:pPr marL="457200" lvl="0" indent="-33401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GB">
                <a:solidFill>
                  <a:schemeClr val="lt1"/>
                </a:solidFill>
              </a:rPr>
              <a:t>Ensures early defect detection and better quality control.</a:t>
            </a:r>
            <a:endParaRPr>
              <a:solidFill>
                <a:schemeClr val="lt1"/>
              </a:solidFill>
            </a:endParaRPr>
          </a:p>
          <a:p>
            <a:pPr marL="457200" lvl="0" indent="-33401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GB">
                <a:solidFill>
                  <a:schemeClr val="lt1"/>
                </a:solidFill>
              </a:rPr>
              <a:t>Works best for small to medium-sized projects with well-defined requirements.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9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2165213" y="152400"/>
            <a:ext cx="4813563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8" name="Google Shape;148;p30"/>
          <p:cNvGraphicFramePr/>
          <p:nvPr/>
        </p:nvGraphicFramePr>
        <p:xfrm>
          <a:off x="33338" y="984975"/>
          <a:ext cx="9077325" cy="3000000"/>
        </p:xfrm>
        <a:graphic>
          <a:graphicData uri="http://schemas.openxmlformats.org/drawingml/2006/table">
            <a:tbl>
              <a:tblPr>
                <a:noFill/>
                <a:tableStyleId>{02432053-898F-4C5B-8F2C-E218B7E9BDE5}</a:tableStyleId>
              </a:tblPr>
              <a:tblGrid>
                <a:gridCol w="1943100"/>
                <a:gridCol w="3867150"/>
                <a:gridCol w="3267075"/>
              </a:tblGrid>
              <a:tr h="2286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Aspect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✅ Advantages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❌ Disadvantages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</a:tr>
              <a:tr h="190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Simplicity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Easy to use and understand.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Not suitable for complex projects.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</a:tr>
              <a:tr h="371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Early Testing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Testing activities start before coding, ensuring better quality.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Changes in requirements are difficult to accommodate.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</a:tr>
              <a:tr h="371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Discipline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Follows a well-structured phase-by-phase development and testing process.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High risk and uncertainty if requirements are not well-defined.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</a:tr>
              <a:tr h="190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Defect Detection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Bugs are caught early, reducing cost and effort.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Not flexible for iterative or ongoing projects.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</a:tr>
              <a:tr h="371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Best for Small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&amp; Medium Projects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Works well for small and medium-scale development.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Not suitable for large-scale, evolving projects.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1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Incremental</a:t>
            </a:r>
            <a:r>
              <a:rPr lang="en-GB">
                <a:solidFill>
                  <a:schemeClr val="lt1"/>
                </a:solidFill>
              </a:rPr>
              <a:t> Model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Incremental Model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9" name="Google Shape;159;p32"/>
          <p:cNvSpPr txBox="1"/>
          <p:nvPr>
            <p:ph type="body" idx="1"/>
          </p:nvPr>
        </p:nvSpPr>
        <p:spPr>
          <a:xfrm>
            <a:off x="311700" y="1076275"/>
            <a:ext cx="8520600" cy="38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457200" lvl="0" indent="-33401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GB">
                <a:solidFill>
                  <a:schemeClr val="lt1"/>
                </a:solidFill>
              </a:rPr>
              <a:t>Divides the development process into multiple increments (modules/builds).</a:t>
            </a:r>
            <a:endParaRPr>
              <a:solidFill>
                <a:schemeClr val="lt1"/>
              </a:solidFill>
            </a:endParaRPr>
          </a:p>
          <a:p>
            <a:pPr marL="457200" lvl="0" indent="-33401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GB">
                <a:solidFill>
                  <a:schemeClr val="lt1"/>
                </a:solidFill>
              </a:rPr>
              <a:t>Each increment follows the same SDLC phases (Requirement Analysis, Design, Implementation, Testing, Deployment).</a:t>
            </a:r>
            <a:endParaRPr>
              <a:solidFill>
                <a:schemeClr val="lt1"/>
              </a:solidFill>
            </a:endParaRPr>
          </a:p>
          <a:p>
            <a:pPr marL="457200" lvl="0" indent="-33401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GB">
                <a:solidFill>
                  <a:schemeClr val="lt1"/>
                </a:solidFill>
              </a:rPr>
              <a:t>Development happens in small parts, making it suitable for complex projects.</a:t>
            </a:r>
            <a:endParaRPr>
              <a:solidFill>
                <a:schemeClr val="lt1"/>
              </a:solidFill>
            </a:endParaRPr>
          </a:p>
          <a:p>
            <a:pPr marL="457200" lvl="0" indent="-33401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GB">
                <a:solidFill>
                  <a:schemeClr val="lt1"/>
                </a:solidFill>
              </a:rPr>
              <a:t>Instead of building the entire software at once, modules are delivered in stages, incorporating customer feedback.</a:t>
            </a:r>
            <a:endParaRPr>
              <a:solidFill>
                <a:schemeClr val="lt1"/>
              </a:solidFill>
            </a:endParaRPr>
          </a:p>
          <a:p>
            <a:pPr marL="457200" lvl="0" indent="-33401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GB">
                <a:solidFill>
                  <a:schemeClr val="lt1"/>
                </a:solidFill>
              </a:rPr>
              <a:t>The process involves:</a:t>
            </a:r>
            <a:endParaRPr>
              <a:solidFill>
                <a:schemeClr val="lt1"/>
              </a:solidFill>
            </a:endParaRPr>
          </a:p>
          <a:p>
            <a:pPr marL="914400" lvl="1" indent="-31051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○"/>
            </a:pPr>
            <a:r>
              <a:rPr lang="en-GB">
                <a:solidFill>
                  <a:schemeClr val="lt1"/>
                </a:solidFill>
              </a:rPr>
              <a:t>Developing an initial version with core functionalities.</a:t>
            </a:r>
            <a:endParaRPr>
              <a:solidFill>
                <a:schemeClr val="lt1"/>
              </a:solidFill>
            </a:endParaRPr>
          </a:p>
          <a:p>
            <a:pPr marL="914400" lvl="1" indent="-31051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○"/>
            </a:pPr>
            <a:r>
              <a:rPr lang="en-GB">
                <a:solidFill>
                  <a:schemeClr val="lt1"/>
                </a:solidFill>
              </a:rPr>
              <a:t>Gathering user feedback and refining the system.</a:t>
            </a:r>
            <a:endParaRPr>
              <a:solidFill>
                <a:schemeClr val="lt1"/>
              </a:solidFill>
            </a:endParaRPr>
          </a:p>
          <a:p>
            <a:pPr marL="914400" lvl="1" indent="-31051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○"/>
            </a:pPr>
            <a:r>
              <a:rPr lang="en-GB">
                <a:solidFill>
                  <a:schemeClr val="lt1"/>
                </a:solidFill>
              </a:rPr>
              <a:t>Adding more modules in each increment until the final system is complete.</a:t>
            </a:r>
            <a:endParaRPr>
              <a:solidFill>
                <a:schemeClr val="lt1"/>
              </a:solidFill>
            </a:endParaRPr>
          </a:p>
          <a:p>
            <a:pPr marL="457200" lvl="0" indent="-33401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GB">
                <a:solidFill>
                  <a:schemeClr val="lt1"/>
                </a:solidFill>
              </a:rPr>
              <a:t>Each new release builds on the previous one, ensuring gradual improvement.</a:t>
            </a:r>
            <a:endParaRPr>
              <a:solidFill>
                <a:schemeClr val="lt1"/>
              </a:solidFill>
            </a:endParaRPr>
          </a:p>
          <a:p>
            <a:pPr marL="457200" lvl="0" indent="-33401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GB">
                <a:solidFill>
                  <a:schemeClr val="lt1"/>
                </a:solidFill>
              </a:rPr>
              <a:t>Important functionalities are prioritized and developed in early iterations.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33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683525" y="292400"/>
            <a:ext cx="7776950" cy="455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9" name="Google Shape;169;p34"/>
          <p:cNvGraphicFramePr/>
          <p:nvPr/>
        </p:nvGraphicFramePr>
        <p:xfrm>
          <a:off x="28575" y="383025"/>
          <a:ext cx="9086850" cy="3000000"/>
        </p:xfrm>
        <a:graphic>
          <a:graphicData uri="http://schemas.openxmlformats.org/drawingml/2006/table">
            <a:tbl>
              <a:tblPr>
                <a:noFill/>
                <a:tableStyleId>{02432053-898F-4C5B-8F2C-E218B7E9BDE5}</a:tableStyleId>
              </a:tblPr>
              <a:tblGrid>
                <a:gridCol w="1514475"/>
                <a:gridCol w="3533775"/>
                <a:gridCol w="4038600"/>
              </a:tblGrid>
              <a:tr h="2286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Aspect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✅ Advantages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❌ Disadvantages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</a:tr>
              <a:tr h="371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Development Approach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Critical modules are developed first, ensuring early functionality.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Requires complete clarity of overall software requirements before starting.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</a:tr>
              <a:tr h="371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Early Working Software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Software is available early in the SDLC.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Needs continuous management and coordination.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</a:tr>
              <a:tr h="190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Flexibility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Easy to modify scope and requirements.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Requires careful planning and design.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</a:tr>
              <a:tr h="190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Customer Feedback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Users can review each module and suggest changes.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Late-stage changes may still impact overall system integration.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</a:tr>
              <a:tr h="371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Progress Measurement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Project progress is easily trackable.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Total cost may be higher compared to simpler models.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</a:tr>
              <a:tr h="190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Testing &amp; Debugging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Easier to test and debug smaller iterations.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May lead to rework if early increments are not well-integrated.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</a:tr>
              <a:tr h="190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Error Detection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Defects can be identified early.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Integration of multiple increments can be challenging.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5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Iterative</a:t>
            </a:r>
            <a:r>
              <a:rPr lang="en-GB">
                <a:solidFill>
                  <a:schemeClr val="lt1"/>
                </a:solidFill>
              </a:rPr>
              <a:t> Models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Evolutionary/Iterative Models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0" name="Google Shape;180;p36"/>
          <p:cNvSpPr txBox="1"/>
          <p:nvPr>
            <p:ph type="body" idx="1"/>
          </p:nvPr>
        </p:nvSpPr>
        <p:spPr>
          <a:xfrm>
            <a:off x="311700" y="1076275"/>
            <a:ext cx="8319900" cy="386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457200" lvl="0" indent="-32575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GB">
                <a:solidFill>
                  <a:schemeClr val="lt1"/>
                </a:solidFill>
              </a:rPr>
              <a:t>The Iterative Model involves repeated cycles (iterations) of software development.</a:t>
            </a:r>
            <a:endParaRPr>
              <a:solidFill>
                <a:schemeClr val="lt1"/>
              </a:solidFill>
            </a:endParaRPr>
          </a:p>
          <a:p>
            <a:pPr marL="457200" lvl="0" indent="-32575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GB">
                <a:solidFill>
                  <a:schemeClr val="lt1"/>
                </a:solidFill>
              </a:rPr>
              <a:t>Developed in small, manageable portions, allowing for frequent reviews &amp; changes.</a:t>
            </a:r>
            <a:endParaRPr>
              <a:solidFill>
                <a:schemeClr val="lt1"/>
              </a:solidFill>
            </a:endParaRPr>
          </a:p>
          <a:p>
            <a:pPr marL="457200" lvl="0" indent="-32575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GB">
                <a:solidFill>
                  <a:schemeClr val="lt1"/>
                </a:solidFill>
              </a:rPr>
              <a:t>Process:</a:t>
            </a:r>
            <a:endParaRPr>
              <a:solidFill>
                <a:schemeClr val="lt1"/>
              </a:solidFill>
            </a:endParaRPr>
          </a:p>
          <a:p>
            <a:pPr marL="914400" lvl="1" indent="-30416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○"/>
            </a:pPr>
            <a:r>
              <a:rPr lang="en-GB">
                <a:solidFill>
                  <a:schemeClr val="lt1"/>
                </a:solidFill>
              </a:rPr>
              <a:t>Develop a version of the software with initial requirements.</a:t>
            </a:r>
            <a:endParaRPr>
              <a:solidFill>
                <a:schemeClr val="lt1"/>
              </a:solidFill>
            </a:endParaRPr>
          </a:p>
          <a:p>
            <a:pPr marL="914400" lvl="1" indent="-30416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○"/>
            </a:pPr>
            <a:r>
              <a:rPr lang="en-GB">
                <a:solidFill>
                  <a:schemeClr val="lt1"/>
                </a:solidFill>
              </a:rPr>
              <a:t>Review the version and identify required changes.</a:t>
            </a:r>
            <a:endParaRPr>
              <a:solidFill>
                <a:schemeClr val="lt1"/>
              </a:solidFill>
            </a:endParaRPr>
          </a:p>
          <a:p>
            <a:pPr marL="914400" lvl="1" indent="-30416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○"/>
            </a:pPr>
            <a:r>
              <a:rPr lang="en-GB">
                <a:solidFill>
                  <a:schemeClr val="lt1"/>
                </a:solidFill>
              </a:rPr>
              <a:t>Based on feedback, create a new version in the next iteration.</a:t>
            </a:r>
            <a:endParaRPr>
              <a:solidFill>
                <a:schemeClr val="lt1"/>
              </a:solidFill>
            </a:endParaRPr>
          </a:p>
          <a:p>
            <a:pPr marL="914400" lvl="1" indent="-30416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○"/>
            </a:pPr>
            <a:r>
              <a:rPr lang="en-GB">
                <a:solidFill>
                  <a:schemeClr val="lt1"/>
                </a:solidFill>
              </a:rPr>
              <a:t>Repeat this process until the final product meets all requirements.</a:t>
            </a:r>
            <a:endParaRPr>
              <a:solidFill>
                <a:schemeClr val="lt1"/>
              </a:solidFill>
            </a:endParaRPr>
          </a:p>
          <a:p>
            <a:pPr marL="457200" lvl="0" indent="-32575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GB">
                <a:solidFill>
                  <a:schemeClr val="lt1"/>
                </a:solidFill>
              </a:rPr>
              <a:t>Unlike the Waterfall Model, the Iterative Model allows for continuous improvement through each cycle.</a:t>
            </a:r>
            <a:endParaRPr>
              <a:solidFill>
                <a:schemeClr val="lt1"/>
              </a:solidFill>
            </a:endParaRPr>
          </a:p>
          <a:p>
            <a:pPr marL="457200" lvl="0" indent="-32575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GB" b="1">
                <a:solidFill>
                  <a:schemeClr val="lt1"/>
                </a:solidFill>
              </a:rPr>
              <a:t>Basic Concept</a:t>
            </a:r>
            <a:r>
              <a:rPr lang="en-GB">
                <a:solidFill>
                  <a:schemeClr val="lt1"/>
                </a:solidFill>
              </a:rPr>
              <a:t>: Develop software in small parts (iterations), making adjustments after each cycle.</a:t>
            </a:r>
            <a:endParaRPr>
              <a:solidFill>
                <a:schemeClr val="lt1"/>
              </a:solidFill>
            </a:endParaRPr>
          </a:p>
          <a:p>
            <a:pPr marL="457200" lvl="0" indent="-32575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GB" b="1">
                <a:solidFill>
                  <a:schemeClr val="lt1"/>
                </a:solidFill>
              </a:rPr>
              <a:t>Goal</a:t>
            </a:r>
            <a:r>
              <a:rPr lang="en-GB">
                <a:solidFill>
                  <a:schemeClr val="lt1"/>
                </a:solidFill>
              </a:rPr>
              <a:t>: Address the drawbacks of Waterfall by providing flexibility to adapt to changing requirements.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37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52400" y="582925"/>
            <a:ext cx="8839200" cy="3977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0" name="Google Shape;190;p38"/>
          <p:cNvGraphicFramePr/>
          <p:nvPr/>
        </p:nvGraphicFramePr>
        <p:xfrm>
          <a:off x="33325" y="316350"/>
          <a:ext cx="9077325" cy="3000000"/>
        </p:xfrm>
        <a:graphic>
          <a:graphicData uri="http://schemas.openxmlformats.org/drawingml/2006/table">
            <a:tbl>
              <a:tblPr>
                <a:noFill/>
                <a:tableStyleId>{02432053-898F-4C5B-8F2C-E218B7E9BDE5}</a:tableStyleId>
              </a:tblPr>
              <a:tblGrid>
                <a:gridCol w="1352550"/>
                <a:gridCol w="4362450"/>
                <a:gridCol w="3362325"/>
              </a:tblGrid>
              <a:tr h="2286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Aspect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✅ Advantages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❌ Disadvantages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</a:tr>
              <a:tr h="190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Bug Detection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Errors and bugs are identified early in iterations.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Requires more resources due to repeated iterations.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</a:tr>
              <a:tr h="190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Faster Development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Basic working software is available quickly.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Not suitable for small projects.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</a:tr>
              <a:tr h="371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Testing &amp; Debugging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Easier to test and debug in each iteration.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Frequent changes in requirements lead to increased effort.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</a:tr>
              <a:tr h="371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User Feedback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Users provide feedback during development, improving final product quality.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Constant changes can increase project budget and timeline.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</a:tr>
              <a:tr h="190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Flexibility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Adapts well to changing requirements.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Managing the entire process is complex.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</a:tr>
              <a:tr h="190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Less Documentation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More focus on development, less time on documentation.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Hard to predict the exact completion date.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</a:tr>
              <a:tr h="190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Risk Management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Risks are identified and resolved early.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Requires careful planning and coordination.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9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Prototyping</a:t>
            </a:r>
            <a:r>
              <a:rPr lang="en-GB">
                <a:solidFill>
                  <a:schemeClr val="lt1"/>
                </a:solidFill>
              </a:rPr>
              <a:t> Model is an Iterative Model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Prototyping Model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01" name="Google Shape;201;p40"/>
          <p:cNvSpPr txBox="1"/>
          <p:nvPr>
            <p:ph type="body" idx="1"/>
          </p:nvPr>
        </p:nvSpPr>
        <p:spPr>
          <a:xfrm>
            <a:off x="311700" y="1076275"/>
            <a:ext cx="8520600" cy="399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457200" lvl="0" indent="-32575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GB">
                <a:solidFill>
                  <a:schemeClr val="lt1"/>
                </a:solidFill>
              </a:rPr>
              <a:t>Creating a prototype of the software application before the final product is developed.</a:t>
            </a:r>
            <a:endParaRPr>
              <a:solidFill>
                <a:schemeClr val="lt1"/>
              </a:solidFill>
            </a:endParaRPr>
          </a:p>
          <a:p>
            <a:pPr marL="457200" lvl="0" indent="-32575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GB">
                <a:solidFill>
                  <a:schemeClr val="lt1"/>
                </a:solidFill>
              </a:rPr>
              <a:t>It is especially useful when the requirements are unclear or not well-defined.</a:t>
            </a:r>
            <a:endParaRPr>
              <a:solidFill>
                <a:schemeClr val="lt1"/>
              </a:solidFill>
            </a:endParaRPr>
          </a:p>
          <a:p>
            <a:pPr marL="457200" lvl="0" indent="-32575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GB">
                <a:solidFill>
                  <a:schemeClr val="lt1"/>
                </a:solidFill>
              </a:rPr>
              <a:t>The prototype serves as a working model for understanding user needs, allowing for iterative refinement.</a:t>
            </a:r>
            <a:endParaRPr>
              <a:solidFill>
                <a:schemeClr val="lt1"/>
              </a:solidFill>
            </a:endParaRPr>
          </a:p>
          <a:p>
            <a:pPr marL="457200" lvl="0" indent="-32575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GB">
                <a:solidFill>
                  <a:schemeClr val="lt1"/>
                </a:solidFill>
              </a:rPr>
              <a:t>Key Features:</a:t>
            </a:r>
            <a:endParaRPr>
              <a:solidFill>
                <a:schemeClr val="lt1"/>
              </a:solidFill>
            </a:endParaRPr>
          </a:p>
          <a:p>
            <a:pPr marL="914400" lvl="1" indent="-30416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○"/>
            </a:pPr>
            <a:r>
              <a:rPr lang="en-GB">
                <a:solidFill>
                  <a:schemeClr val="lt1"/>
                </a:solidFill>
              </a:rPr>
              <a:t>A prototype is created based on the initial requirements.</a:t>
            </a:r>
            <a:endParaRPr>
              <a:solidFill>
                <a:schemeClr val="lt1"/>
              </a:solidFill>
            </a:endParaRPr>
          </a:p>
          <a:p>
            <a:pPr marL="914400" lvl="1" indent="-30416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○"/>
            </a:pPr>
            <a:r>
              <a:rPr lang="en-GB">
                <a:solidFill>
                  <a:schemeClr val="lt1"/>
                </a:solidFill>
              </a:rPr>
              <a:t>The final product is developed based on feedback from the prototype.</a:t>
            </a:r>
            <a:endParaRPr>
              <a:solidFill>
                <a:schemeClr val="lt1"/>
              </a:solidFill>
            </a:endParaRPr>
          </a:p>
          <a:p>
            <a:pPr marL="914400" lvl="1" indent="-30416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○"/>
            </a:pPr>
            <a:r>
              <a:rPr lang="en-GB">
                <a:solidFill>
                  <a:schemeClr val="lt1"/>
                </a:solidFill>
              </a:rPr>
              <a:t>Can be used with other SDLC models or as a standalone approach.</a:t>
            </a:r>
            <a:endParaRPr>
              <a:solidFill>
                <a:schemeClr val="lt1"/>
              </a:solidFill>
            </a:endParaRPr>
          </a:p>
          <a:p>
            <a:pPr marL="457200" lvl="0" indent="-32575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GB">
                <a:solidFill>
                  <a:schemeClr val="lt1"/>
                </a:solidFill>
              </a:rPr>
              <a:t>Challenges:</a:t>
            </a:r>
            <a:endParaRPr>
              <a:solidFill>
                <a:schemeClr val="lt1"/>
              </a:solidFill>
            </a:endParaRPr>
          </a:p>
          <a:p>
            <a:pPr marL="914400" lvl="1" indent="-30416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○"/>
            </a:pPr>
            <a:r>
              <a:rPr lang="en-GB">
                <a:solidFill>
                  <a:schemeClr val="lt1"/>
                </a:solidFill>
              </a:rPr>
              <a:t>If end-users are unsatisfied, a new version must be created, which can lead to increased costs and time.</a:t>
            </a:r>
            <a:endParaRPr>
              <a:solidFill>
                <a:schemeClr val="lt1"/>
              </a:solidFill>
            </a:endParaRPr>
          </a:p>
          <a:p>
            <a:pPr marL="914400" lvl="1" indent="-30416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○"/>
            </a:pPr>
            <a:r>
              <a:rPr lang="en-GB">
                <a:solidFill>
                  <a:schemeClr val="lt1"/>
                </a:solidFill>
              </a:rPr>
              <a:t>Requires careful management of user expectations to avoid excessive iterations.</a:t>
            </a:r>
            <a:endParaRPr>
              <a:solidFill>
                <a:schemeClr val="lt1"/>
              </a:solidFill>
            </a:endParaRPr>
          </a:p>
          <a:p>
            <a:pPr marL="457200" lvl="0" indent="-32575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GB">
                <a:solidFill>
                  <a:schemeClr val="lt1"/>
                </a:solidFill>
              </a:rPr>
              <a:t>Developed to overcome the limitations of the Waterfall Model, especially when dealing with uncertain or evolving requirements.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41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52400" y="582925"/>
            <a:ext cx="8839200" cy="3977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1" name="Google Shape;211;p42"/>
          <p:cNvGraphicFramePr/>
          <p:nvPr/>
        </p:nvGraphicFramePr>
        <p:xfrm>
          <a:off x="28575" y="670650"/>
          <a:ext cx="9086850" cy="3000000"/>
        </p:xfrm>
        <a:graphic>
          <a:graphicData uri="http://schemas.openxmlformats.org/drawingml/2006/table">
            <a:tbl>
              <a:tblPr>
                <a:noFill/>
                <a:tableStyleId>{02432053-898F-4C5B-8F2C-E218B7E9BDE5}</a:tableStyleId>
              </a:tblPr>
              <a:tblGrid>
                <a:gridCol w="1600200"/>
                <a:gridCol w="3724275"/>
                <a:gridCol w="3762375"/>
              </a:tblGrid>
              <a:tr h="2286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Aspect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✅ Advantages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❌ Disadvantages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</a:tr>
              <a:tr h="371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User Interaction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Best suited for applications requiring </a:t>
                      </a:r>
                      <a:r>
                        <a:rPr lang="en-GB" b="1">
                          <a:solidFill>
                            <a:schemeClr val="lt1"/>
                          </a:solidFill>
                        </a:rPr>
                        <a:t>human-machine interaction</a:t>
                      </a:r>
                      <a:r>
                        <a:rPr lang="en-GB">
                          <a:solidFill>
                            <a:schemeClr val="lt1"/>
                          </a:solidFill>
                        </a:rPr>
                        <a:t>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Customers may focus on minor fixes instead of allowing a full system redesign.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</a:tr>
              <a:tr h="371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Handling Unclear Requirements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Useful when only </a:t>
                      </a:r>
                      <a:r>
                        <a:rPr lang="en-GB" b="1">
                          <a:solidFill>
                            <a:schemeClr val="lt1"/>
                          </a:solidFill>
                        </a:rPr>
                        <a:t>general objectives</a:t>
                      </a:r>
                      <a:r>
                        <a:rPr lang="en-GB">
                          <a:solidFill>
                            <a:schemeClr val="lt1"/>
                          </a:solidFill>
                        </a:rPr>
                        <a:t> are known but details (input, processing, output) are unclear.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The first version may include many compromises.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</a:tr>
              <a:tr h="371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Testing Feasibility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Helps developers evaluate </a:t>
                      </a:r>
                      <a:r>
                        <a:rPr lang="en-GB" b="1">
                          <a:solidFill>
                            <a:schemeClr val="lt1"/>
                          </a:solidFill>
                        </a:rPr>
                        <a:t>algorithm performance</a:t>
                      </a:r>
                      <a:r>
                        <a:rPr lang="en-GB">
                          <a:solidFill>
                            <a:schemeClr val="lt1"/>
                          </a:solidFill>
                        </a:rPr>
                        <a:t> and </a:t>
                      </a:r>
                      <a:r>
                        <a:rPr lang="en-GB" b="1">
                          <a:solidFill>
                            <a:schemeClr val="lt1"/>
                          </a:solidFill>
                        </a:rPr>
                        <a:t>OS adaptability</a:t>
                      </a:r>
                      <a:r>
                        <a:rPr lang="en-GB">
                          <a:solidFill>
                            <a:schemeClr val="lt1"/>
                          </a:solidFill>
                        </a:rPr>
                        <a:t>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Developers may make shortcuts just to get a prototype working, leading to poor long-term quality.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</a:tr>
              <a:tr h="190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Early User Feedback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Users can review and suggest changes early in development.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Too many iterations can delay final product delivery.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</a:tr>
              <a:tr h="371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Risk Reduction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Helps identify potential risks early.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Not suitable for projects requiring strict documentation and planning.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3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Types of </a:t>
            </a:r>
            <a:r>
              <a:rPr lang="en-GB">
                <a:solidFill>
                  <a:schemeClr val="lt1"/>
                </a:solidFill>
              </a:rPr>
              <a:t>Prototyping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44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509713" y="219900"/>
            <a:ext cx="8124575" cy="470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Rapid Prototyping Techniques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27" name="Google Shape;227;p45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63261" y="1817253"/>
            <a:ext cx="2509661" cy="3009688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45"/>
          <p:cNvSpPr txBox="1"/>
          <p:nvPr>
            <p:ph type="title"/>
          </p:nvPr>
        </p:nvSpPr>
        <p:spPr>
          <a:xfrm>
            <a:off x="3934206" y="1311763"/>
            <a:ext cx="966600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Sketches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229" name="Google Shape;229;p4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599032" y="1966836"/>
            <a:ext cx="3809732" cy="23858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Rapid Prototyping Techniques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35" name="Google Shape;235;p46"/>
          <p:cNvSpPr txBox="1"/>
          <p:nvPr>
            <p:ph type="title"/>
          </p:nvPr>
        </p:nvSpPr>
        <p:spPr>
          <a:xfrm>
            <a:off x="3514063" y="1311763"/>
            <a:ext cx="1807200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Paper Prototypes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236" name="Google Shape;236;p46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73017" y="2177724"/>
            <a:ext cx="3262021" cy="2174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46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181838" y="2176910"/>
            <a:ext cx="3319229" cy="21763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Rapid Prototyping Techniques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43" name="Google Shape;243;p47"/>
          <p:cNvSpPr txBox="1"/>
          <p:nvPr>
            <p:ph type="title"/>
          </p:nvPr>
        </p:nvSpPr>
        <p:spPr>
          <a:xfrm>
            <a:off x="2721455" y="1311763"/>
            <a:ext cx="3392100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Wireframes and Digital Mockups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244" name="Google Shape;244;p4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59407" y="1984913"/>
            <a:ext cx="3788512" cy="232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4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022104" y="1864031"/>
            <a:ext cx="3183465" cy="2796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Rapid Prototyping Techniques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51" name="Google Shape;251;p48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GB">
                <a:solidFill>
                  <a:schemeClr val="lt1"/>
                </a:solidFill>
              </a:rPr>
              <a:t>Throwaway Code</a:t>
            </a:r>
            <a:endParaRPr>
              <a:solidFill>
                <a:schemeClr val="lt1"/>
              </a:solidFill>
            </a:endParaRPr>
          </a:p>
          <a:p>
            <a:pPr marL="914400" lvl="1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</a:pPr>
            <a:r>
              <a:rPr lang="en-GB">
                <a:solidFill>
                  <a:schemeClr val="lt1"/>
                </a:solidFill>
              </a:rPr>
              <a:t>Quick low-quality code is written just to demonstrate functionality.</a:t>
            </a:r>
            <a:endParaRPr>
              <a:solidFill>
                <a:schemeClr val="lt1"/>
              </a:solidFill>
            </a:endParaRPr>
          </a:p>
          <a:p>
            <a:pPr marL="914400" lvl="1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</a:pPr>
            <a:r>
              <a:rPr lang="en-GB">
                <a:solidFill>
                  <a:schemeClr val="lt1"/>
                </a:solidFill>
              </a:rPr>
              <a:t>Used in software engineering to test algorithms or interactions.</a:t>
            </a:r>
            <a:endParaRPr>
              <a:solidFill>
                <a:schemeClr val="lt1"/>
              </a:solidFill>
            </a:endParaRPr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GB">
                <a:solidFill>
                  <a:schemeClr val="lt1"/>
                </a:solidFill>
              </a:rPr>
              <a:t>3D Prototyping (For Hardware &amp; VR Systems)</a:t>
            </a:r>
            <a:endParaRPr>
              <a:solidFill>
                <a:schemeClr val="lt1"/>
              </a:solidFill>
            </a:endParaRPr>
          </a:p>
          <a:p>
            <a:pPr marL="914400" lvl="1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</a:pPr>
            <a:r>
              <a:rPr lang="en-GB">
                <a:solidFill>
                  <a:schemeClr val="lt1"/>
                </a:solidFill>
              </a:rPr>
              <a:t>Used for hardware, IoT, or game development.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8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Component Assembly</a:t>
            </a:r>
            <a:r>
              <a:rPr lang="en-GB">
                <a:solidFill>
                  <a:schemeClr val="lt1"/>
                </a:solidFill>
              </a:rPr>
              <a:t> Model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000"/>
              <a:buFont typeface="Arial" panose="020B0604020202020204"/>
              <a:buNone/>
            </a:pPr>
            <a:r>
              <a:rPr lang="en-GB">
                <a:solidFill>
                  <a:schemeClr val="lt1"/>
                </a:solidFill>
              </a:rPr>
              <a:t>Component Assembly Model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1" name="Google Shape;311;p59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GB">
                <a:solidFill>
                  <a:schemeClr val="lt1"/>
                </a:solidFill>
              </a:rPr>
              <a:t>The Component Assembly Model is based on reusing existing software components instead of building everything from scratch.</a:t>
            </a:r>
            <a:endParaRPr>
              <a:solidFill>
                <a:schemeClr val="lt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GB">
                <a:solidFill>
                  <a:schemeClr val="lt1"/>
                </a:solidFill>
              </a:rPr>
              <a:t>It follows the principle of “develop once, reuse multiple times.”</a:t>
            </a:r>
            <a:endParaRPr>
              <a:solidFill>
                <a:schemeClr val="lt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GB">
                <a:solidFill>
                  <a:schemeClr val="lt1"/>
                </a:solidFill>
              </a:rPr>
              <a:t>Similar to how hardware engineers assemble circuits using pre-built chips, this model assembles software systems using pre-made components (modules, libraries, APIs, frameworks).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60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696913" y="152400"/>
            <a:ext cx="775017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Component Assembly Model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graphicFrame>
        <p:nvGraphicFramePr>
          <p:cNvPr id="322" name="Google Shape;322;p61"/>
          <p:cNvGraphicFramePr/>
          <p:nvPr/>
        </p:nvGraphicFramePr>
        <p:xfrm>
          <a:off x="485775" y="1017725"/>
          <a:ext cx="8172450" cy="3000000"/>
        </p:xfrm>
        <a:graphic>
          <a:graphicData uri="http://schemas.openxmlformats.org/drawingml/2006/table">
            <a:tbl>
              <a:tblPr>
                <a:noFill/>
                <a:tableStyleId>{02432053-898F-4C5B-8F2C-E218B7E9BDE5}</a:tableStyleId>
              </a:tblPr>
              <a:tblGrid>
                <a:gridCol w="1304925"/>
                <a:gridCol w="3171825"/>
                <a:gridCol w="3695700"/>
              </a:tblGrid>
              <a:tr h="2286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Aspect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✅ </a:t>
                      </a: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Advantages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❌ </a:t>
                      </a: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Disadvantages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</a:tr>
              <a:tr h="190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Development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Speed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Faster development by reusing components.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Hard to find the perfect component match.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</a:tr>
              <a:tr h="190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Cost Savings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Reduces cost as components are pre-built.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Licensing fees may apply for third-party components.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</a:tr>
              <a:tr h="190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Software Quality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Components are tested and reliable.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Compatibility issues when integrating multiple components.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</a:tr>
              <a:tr h="190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Maintenance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Easier updates by replacing/upgrading components.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Risk of dependency on third-party providers.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</a:tr>
              <a:tr h="190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Flexibility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Modular design allows easier modifications.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Less control over third-party components' internals.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When to Use the Component Assembly Model?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28" name="Google Shape;328;p62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GB">
                <a:solidFill>
                  <a:schemeClr val="lt1"/>
                </a:solidFill>
              </a:rPr>
              <a:t>When there are existing reusable components that fit the project’s needs.</a:t>
            </a:r>
            <a:endParaRPr>
              <a:solidFill>
                <a:schemeClr val="lt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GB">
                <a:solidFill>
                  <a:schemeClr val="lt1"/>
                </a:solidFill>
              </a:rPr>
              <a:t>When fast development is required (e.g., startups, rapid prototyping).</a:t>
            </a:r>
            <a:endParaRPr>
              <a:solidFill>
                <a:schemeClr val="lt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GB">
                <a:solidFill>
                  <a:schemeClr val="lt1"/>
                </a:solidFill>
              </a:rPr>
              <a:t>For large, scalable systems where modularity is important.</a:t>
            </a:r>
            <a:endParaRPr>
              <a:solidFill>
                <a:schemeClr val="lt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GB">
                <a:solidFill>
                  <a:schemeClr val="lt1"/>
                </a:solidFill>
              </a:rPr>
              <a:t>In </a:t>
            </a:r>
            <a:r>
              <a:rPr lang="en-GB">
                <a:solidFill>
                  <a:schemeClr val="lt1"/>
                </a:solidFill>
              </a:rPr>
              <a:t>app development, where frameworks and APIs are widely available.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63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Rapid Application Development (RAD) Model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Rapid Application Development (RAD) Model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39" name="Google Shape;339;p64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GB">
                <a:solidFill>
                  <a:schemeClr val="lt1"/>
                </a:solidFill>
              </a:rPr>
              <a:t>A fast-paced software development approach.</a:t>
            </a:r>
            <a:endParaRPr>
              <a:solidFill>
                <a:schemeClr val="lt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GB">
                <a:solidFill>
                  <a:schemeClr val="lt1"/>
                </a:solidFill>
              </a:rPr>
              <a:t>Similar to Incremental and Waterfall Models but focuses on speed &amp; flexibility.</a:t>
            </a:r>
            <a:endParaRPr>
              <a:solidFill>
                <a:schemeClr val="lt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GB">
                <a:solidFill>
                  <a:schemeClr val="lt1"/>
                </a:solidFill>
              </a:rPr>
              <a:t>Best suited for small projects; large projects are broken into smaller parts and completed iteratively.</a:t>
            </a:r>
            <a:endParaRPr>
              <a:solidFill>
                <a:schemeClr val="lt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GB">
                <a:solidFill>
                  <a:schemeClr val="lt1"/>
                </a:solidFill>
              </a:rPr>
              <a:t>Key Features:</a:t>
            </a:r>
            <a:endParaRPr>
              <a:solidFill>
                <a:schemeClr val="lt1"/>
              </a:solidFill>
            </a:endParaRPr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</a:pPr>
            <a:r>
              <a:rPr lang="en-GB">
                <a:solidFill>
                  <a:schemeClr val="lt1"/>
                </a:solidFill>
              </a:rPr>
              <a:t>Fast Development – Projects are completed quickly.</a:t>
            </a:r>
            <a:endParaRPr>
              <a:solidFill>
                <a:schemeClr val="lt1"/>
              </a:solidFill>
            </a:endParaRPr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</a:pPr>
            <a:r>
              <a:rPr lang="en-GB">
                <a:solidFill>
                  <a:schemeClr val="lt1"/>
                </a:solidFill>
              </a:rPr>
              <a:t>Predefined Requirements – All requirements are gathered before development begins.</a:t>
            </a:r>
            <a:endParaRPr>
              <a:solidFill>
                <a:schemeClr val="lt1"/>
              </a:solidFill>
            </a:endParaRPr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</a:pPr>
            <a:r>
              <a:rPr lang="en-GB">
                <a:solidFill>
                  <a:schemeClr val="lt1"/>
                </a:solidFill>
              </a:rPr>
              <a:t>Low Error Rate – Rapid development reduces errors.</a:t>
            </a:r>
            <a:endParaRPr>
              <a:solidFill>
                <a:schemeClr val="lt1"/>
              </a:solidFill>
            </a:endParaRPr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</a:pPr>
            <a:r>
              <a:rPr lang="en-GB">
                <a:solidFill>
                  <a:schemeClr val="lt1"/>
                </a:solidFill>
              </a:rPr>
              <a:t>Reuse of Code &amp; Components – Maximizes efficiency by reusing tools and processes.</a:t>
            </a:r>
            <a:endParaRPr>
              <a:solidFill>
                <a:schemeClr val="lt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GB">
                <a:solidFill>
                  <a:schemeClr val="lt1"/>
                </a:solidFill>
              </a:rPr>
              <a:t>Ensures timely delivery while maintaining quality and flexibility.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65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52400" y="582925"/>
            <a:ext cx="8839200" cy="3977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9" name="Google Shape;349;p66"/>
          <p:cNvGraphicFramePr/>
          <p:nvPr/>
        </p:nvGraphicFramePr>
        <p:xfrm>
          <a:off x="33338" y="263025"/>
          <a:ext cx="9077325" cy="3000000"/>
        </p:xfrm>
        <a:graphic>
          <a:graphicData uri="http://schemas.openxmlformats.org/drawingml/2006/table">
            <a:tbl>
              <a:tblPr>
                <a:noFill/>
                <a:tableStyleId>{02432053-898F-4C5B-8F2C-E218B7E9BDE5}</a:tableStyleId>
              </a:tblPr>
              <a:tblGrid>
                <a:gridCol w="1371600"/>
                <a:gridCol w="3895725"/>
                <a:gridCol w="3810000"/>
              </a:tblGrid>
              <a:tr h="2286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Aspect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✅ Advantages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❌ Disadvantages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</a:tr>
              <a:tr h="190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Development Speed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Reduces development time significantly.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Requires highly skilled devs and designers.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</a:tr>
              <a:tr h="190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Reusability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Components are reused, reducing redundancy.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Not suitable for complex, long-term projects.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</a:tr>
              <a:tr h="190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Flexibility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Easy to modify and update during development.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Difficult to manage due to rapid iterations.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</a:tr>
              <a:tr h="371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Portability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Uses high-level abstraction and intermediate code, making it easy to transfer.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Automated code generation tools can be expensive.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</a:tr>
              <a:tr h="190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Quality &amp; Defects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Prototype-based approach minimizes defects.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Requires constant client feedback.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</a:tr>
              <a:tr h="190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Efficiency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Achieves high productivity with fewer people.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Works only for component-based and scalable systems.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</a:tr>
              <a:tr h="371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Cost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Effectiveness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Reduces overall project costs.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Not ideal for projects with undefined or frequently changing requirements.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</a:tr>
              <a:tr h="371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Best for Small Projects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Works well for small, well-defined applications.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Unsuitable for large-scale enterprise systems.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93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THANK YOU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10722</Words>
  <Application>WPS Presentation</Application>
  <PresentationFormat/>
  <Paragraphs>446</Paragraphs>
  <Slides>36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4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Simple Light</vt:lpstr>
      <vt:lpstr>Topic 2: Software Processes &amp; Process Models</vt:lpstr>
      <vt:lpstr>Waterfall Model</vt:lpstr>
      <vt:lpstr>Waterfall Model</vt:lpstr>
      <vt:lpstr>PowerPoint 演示文稿</vt:lpstr>
      <vt:lpstr>V Model (Verification and Validation Model)</vt:lpstr>
      <vt:lpstr>V Model (Verification and Validation Model)</vt:lpstr>
      <vt:lpstr>PowerPoint 演示文稿</vt:lpstr>
      <vt:lpstr>PowerPoint 演示文稿</vt:lpstr>
      <vt:lpstr>Incremental Model</vt:lpstr>
      <vt:lpstr>Incremental Model</vt:lpstr>
      <vt:lpstr>PowerPoint 演示文稿</vt:lpstr>
      <vt:lpstr>PowerPoint 演示文稿</vt:lpstr>
      <vt:lpstr>Iterative Models</vt:lpstr>
      <vt:lpstr>Evolutionary/Iterative Models</vt:lpstr>
      <vt:lpstr>PowerPoint 演示文稿</vt:lpstr>
      <vt:lpstr>PowerPoint 演示文稿</vt:lpstr>
      <vt:lpstr>Prototyping Model is an Iterative Model</vt:lpstr>
      <vt:lpstr>Prototyping Model</vt:lpstr>
      <vt:lpstr>PowerPoint 演示文稿</vt:lpstr>
      <vt:lpstr>PowerPoint 演示文稿</vt:lpstr>
      <vt:lpstr>Types of Prototyping</vt:lpstr>
      <vt:lpstr>PowerPoint 演示文稿</vt:lpstr>
      <vt:lpstr>Sketches</vt:lpstr>
      <vt:lpstr>Paper Prototypes</vt:lpstr>
      <vt:lpstr>Wireframes and Digital Mockups</vt:lpstr>
      <vt:lpstr>Rapid Prototyping Techniques</vt:lpstr>
      <vt:lpstr>Component Assembly Model</vt:lpstr>
      <vt:lpstr>Component Assembly Model</vt:lpstr>
      <vt:lpstr>PowerPoint 演示文稿</vt:lpstr>
      <vt:lpstr>Component Assembly Model</vt:lpstr>
      <vt:lpstr>When to Use the Component Assembly Model?</vt:lpstr>
      <vt:lpstr>Rapid Application Development (RAD) Model</vt:lpstr>
      <vt:lpstr>Rapid Application Development (RAD) Model</vt:lpstr>
      <vt:lpstr>PowerPoint 演示文稿</vt:lpstr>
      <vt:lpstr>PowerPoint 演示文稿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2: Software Processes &amp; Process Models</dc:title>
  <dc:creator/>
  <cp:lastModifiedBy>Teacher</cp:lastModifiedBy>
  <cp:revision>2</cp:revision>
  <dcterms:created xsi:type="dcterms:W3CDTF">2025-10-27T01:44:00Z</dcterms:created>
  <dcterms:modified xsi:type="dcterms:W3CDTF">2025-10-28T04:04:02Z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1723A3A5B66041F589879F61DFF181B0_12</vt:lpwstr>
  </property>
  <property fmtid="{D5CDD505-2E9C-101B-9397-08002B2CF9AE}" pid="3" name="KSOProductBuildVer">
    <vt:lpwstr>2057-12.2.0.23149</vt:lpwstr>
  </property>
</Properties>
</file>