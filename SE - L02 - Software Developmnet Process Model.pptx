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6" r:id="rId3"/>
    <p:sldId id="293" r:id="rId5"/>
    <p:sldId id="296" r:id="rId6"/>
    <p:sldId id="316" r:id="rId7"/>
    <p:sldId id="298" r:id="rId8"/>
    <p:sldId id="299" r:id="rId9"/>
    <p:sldId id="300" r:id="rId10"/>
    <p:sldId id="303" r:id="rId11"/>
    <p:sldId id="304" r:id="rId12"/>
    <p:sldId id="295" r:id="rId13"/>
    <p:sldId id="307" r:id="rId14"/>
    <p:sldId id="311" r:id="rId15"/>
    <p:sldId id="312" r:id="rId16"/>
    <p:sldId id="313" r:id="rId17"/>
    <p:sldId id="31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2432053-898F-4C5B-8F2C-E218B7E9BD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576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15B1-2572-4F4E-AFA0-B4063C44FA4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6" Type="http://schemas.openxmlformats.org/officeDocument/2006/relationships/hyperlink" Target="https://scholar.google.com/citations?user=VqMvaIIAAAAJ&amp;hl=en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linkedin.com/in/m-mahmudul-hasan-93043a87/" TargetMode="External"/><Relationship Id="rId3" Type="http://schemas.openxmlformats.org/officeDocument/2006/relationships/image" Target="../media/image1.png"/><Relationship Id="rId2" Type="http://schemas.openxmlformats.org/officeDocument/2006/relationships/hyperlink" Target="https://www.researchgate.net/profile/M_Mahmudul_Hasan" TargetMode="External"/><Relationship Id="rId1" Type="http://schemas.openxmlformats.org/officeDocument/2006/relationships/hyperlink" Target="http://www.dit.hua.gr/~m.hasa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Subtitle 2"/>
          <p:cNvSpPr txBox="1"/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  <a:endParaRPr lang="en-US" sz="2400" cap="all" dirty="0">
              <a:solidFill>
                <a:srgbClr val="FFFFFF"/>
              </a:solidFill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M. Mahmudul </a:t>
            </a:r>
            <a:r>
              <a:rPr lang="en-US" sz="2400" dirty="0" err="1">
                <a:solidFill>
                  <a:srgbClr val="7030A0"/>
                </a:solidFill>
              </a:rPr>
              <a:t>hasan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Assistant Professor, CS, AIUB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300" cap="none" dirty="0">
                <a:hlinkClick r:id="rId1"/>
              </a:rPr>
              <a:t>http://www.dit.hua.gr/~m.hasan</a:t>
            </a:r>
            <a:r>
              <a:rPr lang="en-US" sz="2300" cap="none" dirty="0"/>
              <a:t>   </a:t>
            </a:r>
            <a:endParaRPr lang="en-US" sz="2300" cap="none" dirty="0"/>
          </a:p>
        </p:txBody>
      </p:sp>
      <p:pic>
        <p:nvPicPr>
          <p:cNvPr id="25" name="Picture 2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36" y="5191026"/>
            <a:ext cx="775212" cy="762000"/>
          </a:xfrm>
          <a:prstGeom prst="rect">
            <a:avLst/>
          </a:prstGeom>
        </p:spPr>
      </p:pic>
      <p:pic>
        <p:nvPicPr>
          <p:cNvPr id="26" name="Picture 25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933" y="5210199"/>
            <a:ext cx="1966006" cy="641961"/>
          </a:xfrm>
          <a:prstGeom prst="rect">
            <a:avLst/>
          </a:prstGeom>
        </p:spPr>
      </p:pic>
      <p:pic>
        <p:nvPicPr>
          <p:cNvPr id="27" name="Picture 26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8975" y="5279923"/>
            <a:ext cx="2465593" cy="542310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14761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  <a:endParaRPr lang="en-GB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 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It presents a description of a process from some particular perspective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  <a:endParaRPr lang="en-GB" dirty="0"/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  <a:endParaRPr lang="en-GB" sz="22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 where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217C01CDF565}" type="slidenum">
              <a:rPr lang="en-US" dirty="0"/>
            </a:fld>
            <a:endParaRPr lang="en-US" dirty="0"/>
          </a:p>
        </p:txBody>
      </p:sp>
      <p:graphicFrame>
        <p:nvGraphicFramePr>
          <p:cNvPr id="127" name="Google Shape;127;p26"/>
          <p:cNvGraphicFramePr/>
          <p:nvPr>
            <p:custDataLst>
              <p:tags r:id="rId1"/>
            </p:custDataLst>
          </p:nvPr>
        </p:nvGraphicFramePr>
        <p:xfrm>
          <a:off x="320675" y="577215"/>
          <a:ext cx="11668125" cy="6236970"/>
        </p:xfrm>
        <a:graphic>
          <a:graphicData uri="http://schemas.openxmlformats.org/drawingml/2006/table">
            <a:tbl>
              <a:tblPr>
                <a:noFill/>
                <a:tableStyleId>{02432053-898F-4C5B-8F2C-E218B7E9BDE5}</a:tableStyleId>
              </a:tblPr>
              <a:tblGrid>
                <a:gridCol w="1835150"/>
                <a:gridCol w="4243705"/>
                <a:gridCol w="5589270"/>
              </a:tblGrid>
              <a:tr h="37528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Advantages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Disadvantages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2166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Simplicity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Easy to understand &amp; implement.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rigid and inflexible for real-world applications.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 Small Projects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well for small &amp; defined projects.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suitable for large or complex systems.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Easy to manage with clear phases.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Changes are difficult to implement.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1407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Structured Approach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Each phase is well-documented and follows a logical order.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overlapping of phases, which slows down development.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166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Stability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goal is determined early, avoiding scope creep.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complete &amp; accurate requirements upfront, which is often unrealistic.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134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 is done after development, reducing confusion.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 occurs late, making error detection costly.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Management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 framework for other models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 are not assessed, leading to high uncertainty.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 to Market</a:t>
                      </a:r>
                      <a:endParaRPr lang="en-GB" sz="1100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Predictable timeline due to its structured nature.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Working software is not available for a long time, delaying user feedback.</a:t>
                      </a:r>
                      <a:endParaRPr lang="en-GB" b="1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941195"/>
            <a:ext cx="11181080" cy="4389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The V-model is a SDLC model where execution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of processes happens in a sequential manner in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V-shape. It is also known as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</a:t>
            </a:r>
            <a:br>
              <a:rPr lang="en-US" sz="2000" dirty="0">
                <a:solidFill>
                  <a:srgbClr val="C00000"/>
                </a:solidFill>
                <a:latin typeface="+mj-lt"/>
              </a:rPr>
            </a:br>
            <a:r>
              <a:rPr lang="en-US" sz="2000" dirty="0">
                <a:solidFill>
                  <a:srgbClr val="C00000"/>
                </a:solidFill>
                <a:latin typeface="+mj-lt"/>
              </a:rPr>
              <a:t> Validation</a:t>
            </a:r>
            <a:r>
              <a:rPr lang="en-US" sz="2000" dirty="0">
                <a:latin typeface="+mj-lt"/>
              </a:rPr>
              <a:t>  model.</a:t>
            </a:r>
            <a:endParaRPr 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 V-Model is an extension of the waterfall model and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is based on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corresponding development stage. This means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that for every single phase in the development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cycle there is a directly associated testing phase.</a:t>
            </a:r>
            <a:endParaRPr 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+mj-lt"/>
              </a:rPr>
              <a:t> This is a highly disciplined model and next phase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starts only after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217410" y="1814830"/>
            <a:ext cx="4844415" cy="4853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840" y="1887855"/>
            <a:ext cx="11509375" cy="4890135"/>
          </a:xfrm>
        </p:spPr>
        <p:txBody>
          <a:bodyPr>
            <a:normAutofit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+mj-lt"/>
              </a:rPr>
              <a:t> </a:t>
            </a:r>
            <a:r>
              <a:rPr lang="en-GB" sz="2200" dirty="0">
                <a:latin typeface="+mj-lt"/>
              </a:rPr>
              <a:t>Requirements are not clear and p</a:t>
            </a:r>
            <a:r>
              <a:rPr lang="en-GB" sz="2200" dirty="0"/>
              <a:t>rototype serves</a:t>
            </a:r>
            <a:br>
              <a:rPr lang="en-GB" sz="2200" dirty="0"/>
            </a:br>
            <a:r>
              <a:rPr lang="en-GB" sz="2200" dirty="0"/>
              <a:t>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>
                <a:latin typeface="+mj-lt"/>
              </a:rPr>
              <a:t> Iteration occurs as the prototype is tuned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 to satisfy the needs of the customer</a:t>
            </a: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dirty="0"/>
              <a:t>System requirements ALWAYS evolve in the course of a project, so process iteration is  useful where earlier stages are reworked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867466" y="172500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Evolutionary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2032635"/>
            <a:ext cx="11430635" cy="23698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</a:rPr>
              <a:t>Exploratory development:</a:t>
            </a:r>
            <a:r>
              <a:rPr lang="en-GB" sz="2200" dirty="0">
                <a:latin typeface="+mj-lt"/>
              </a:rPr>
              <a:t> Objective is to work with customers and to evolve a final system from an initial outline specification. Should start with well-understood requirements </a:t>
            </a: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</a:rPr>
              <a:t>Throw-away prototyping: </a:t>
            </a:r>
            <a:r>
              <a:rPr lang="en-GB" sz="2200" dirty="0">
                <a:latin typeface="+mj-lt"/>
              </a:rPr>
              <a:t>Objective is to understand the system requirements. Should  </a:t>
            </a:r>
            <a:br>
              <a:rPr lang="en-GB" sz="2200" dirty="0">
                <a:latin typeface="+mj-lt"/>
              </a:rPr>
            </a:br>
            <a:r>
              <a:rPr lang="en-GB" sz="2200" dirty="0">
                <a:latin typeface="+mj-lt"/>
              </a:rPr>
              <a:t> start with poorly understood requirements</a:t>
            </a:r>
            <a:endParaRPr lang="en-GB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http://www.pro-technix.com/services/software/images/evolvem.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43" y="3204754"/>
            <a:ext cx="6612981" cy="368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90" y="1748155"/>
            <a:ext cx="11109325" cy="2534920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deliver the system as a single delivery, the development and </a:t>
            </a:r>
            <a:r>
              <a:rPr lang="en-GB" sz="2000" dirty="0">
                <a:solidFill>
                  <a:srgbClr val="FF0000"/>
                </a:solidFill>
                <a:latin typeface="+mj-lt"/>
              </a:rPr>
              <a:t>delivery is broken down into increments</a:t>
            </a:r>
            <a:r>
              <a:rPr lang="en-GB" sz="2000" dirty="0">
                <a:latin typeface="+mj-lt"/>
              </a:rPr>
              <a:t> with each increment delivering part of the required functionality (SPIRAL).</a:t>
            </a:r>
            <a:br>
              <a:rPr lang="en-GB" sz="2000" dirty="0">
                <a:latin typeface="+mj-lt"/>
              </a:rPr>
            </a:b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  <a:endParaRPr 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prioritised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  <a:endParaRPr lang="en-GB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/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Analysis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Design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Code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Test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anose="020F0502020204030204" pitchFamily="34" charset="0"/>
                </a:rPr>
                <a:t>Delivery</a:t>
              </a:r>
              <a:endParaRPr lang="en-GB">
                <a:latin typeface="Calibri" panose="020F0502020204030204" pitchFamily="34" charset="0"/>
              </a:endParaRPr>
            </a:p>
            <a:p>
              <a:r>
                <a:rPr lang="en-GB">
                  <a:latin typeface="Calibri" panose="020F0502020204030204" pitchFamily="34" charset="0"/>
                </a:rPr>
                <a:t>increment #1</a:t>
              </a:r>
              <a:endParaRPr lang="en-GB">
                <a:latin typeface="Calibri" panose="020F0502020204030204" pitchFamily="34" charset="0"/>
              </a:endParaRP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anose="020F0502020204030204" pitchFamily="34" charset="0"/>
              </a:rPr>
              <a:t>Calendar time</a:t>
            </a:r>
            <a:endParaRPr lang="en-GB" sz="1400">
              <a:latin typeface="Calibri" panose="020F0502020204030204" pitchFamily="34" charset="0"/>
            </a:endParaRPr>
          </a:p>
        </p:txBody>
      </p:sp>
      <p:grpSp>
        <p:nvGrpSpPr>
          <p:cNvPr id="16" name="Group 13"/>
          <p:cNvGrpSpPr/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Analysis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Design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Code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Test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anose="020F0502020204030204" pitchFamily="34" charset="0"/>
                </a:rPr>
                <a:t>Delivery</a:t>
              </a:r>
              <a:endParaRPr lang="en-GB">
                <a:latin typeface="Calibri" panose="020F0502020204030204" pitchFamily="34" charset="0"/>
              </a:endParaRPr>
            </a:p>
            <a:p>
              <a:r>
                <a:rPr lang="en-GB">
                  <a:latin typeface="Calibri" panose="020F0502020204030204" pitchFamily="34" charset="0"/>
                </a:rPr>
                <a:t>increment #2</a:t>
              </a:r>
              <a:endParaRPr lang="en-GB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19"/>
          <p:cNvGrpSpPr/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Analysis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anose="020F0502020204030204" pitchFamily="34" charset="0"/>
                </a:rPr>
                <a:t>Design</a:t>
              </a:r>
              <a:endParaRPr lang="en-GB">
                <a:latin typeface="Calibri" panose="020F0502020204030204" pitchFamily="34" charset="0"/>
              </a:endParaRP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Code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anose="020F0502020204030204" pitchFamily="34" charset="0"/>
                </a:rPr>
                <a:t>Test</a:t>
              </a:r>
              <a:endParaRPr lang="en-GB" dirty="0">
                <a:latin typeface="Calibri" panose="020F0502020204030204" pitchFamily="34" charset="0"/>
              </a:endParaRP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</a:rPr>
                <a:t>Delivery #3</a:t>
              </a:r>
              <a:endParaRPr lang="en-GB" dirty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98618"/>
            <a:ext cx="11034702" cy="30902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b="1" dirty="0">
                <a:latin typeface="+mj-lt"/>
              </a:rPr>
              <a:t>Advantages of Incremental Development</a:t>
            </a:r>
            <a:endParaRPr lang="en-GB" sz="2000" b="1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+mj-lt"/>
              </a:rPr>
              <a:t>Customer value can be delivered with each increment so system functionality is available earlier</a:t>
            </a:r>
            <a:endParaRPr lang="en-GB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Deliver the core product first</a:t>
            </a:r>
            <a:endParaRPr lang="en-GB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+mj-lt"/>
              </a:rPr>
              <a:t>Early increments act as a prototype to help elicit requirements for later increments</a:t>
            </a:r>
            <a:endParaRPr lang="en-GB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+mj-lt"/>
              </a:rPr>
              <a:t>Lower risk of overall project failure</a:t>
            </a:r>
            <a:endParaRPr lang="en-GB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+mj-lt"/>
              </a:rPr>
              <a:t>The highest priority system services tend to receive the most testing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It is a type of incremental model. The developments are time boxed, delivered and then assembled into a working  prototype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In RAD model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increments)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  <a:endParaRPr 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GB" altLang="en-US" sz="2000" dirty="0"/>
              <a:t>Phases of RAD are:</a:t>
            </a:r>
            <a:endParaRPr lang="en-GB" altLang="en-US" sz="20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  <a:endParaRPr lang="en-GB" altLang="en-US" sz="2000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 with the system analysts)</a:t>
            </a:r>
            <a:endParaRPr lang="en-GB" altLang="en-US" sz="20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  <a:endParaRPr lang="en-GB" altLang="en-US" sz="2000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 based development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303" y="2312126"/>
            <a:ext cx="5718119" cy="13062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</a:rPr>
              <a:t>Suitable for re-usable object oriented classes</a:t>
            </a:r>
            <a:endParaRPr lang="en-US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latin typeface="+mj-lt"/>
              </a:rPr>
              <a:t>Apply characteristics of spiral development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8998132" y="1915886"/>
            <a:ext cx="1447800" cy="67398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Calibri" panose="020F0502020204030204" pitchFamily="34" charset="0"/>
              </a:rPr>
              <a:t>Identify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>
                <a:latin typeface="Calibri" panose="020F0502020204030204" pitchFamily="34" charset="0"/>
              </a:rPr>
              <a:t>component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7855132" y="31350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Calibri" panose="020F0502020204030204" pitchFamily="34" charset="0"/>
              </a:rPr>
              <a:t>Construct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 i="1">
                <a:latin typeface="Calibri" panose="020F0502020204030204" pitchFamily="34" charset="0"/>
              </a:rPr>
              <a:t>n</a:t>
            </a:r>
            <a:r>
              <a:rPr lang="en-US">
                <a:latin typeface="Calibri" panose="020F0502020204030204" pitchFamily="34" charset="0"/>
              </a:rPr>
              <a:t>th inter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>
                <a:latin typeface="Calibri" panose="020F0502020204030204" pitchFamily="34" charset="0"/>
              </a:rPr>
              <a:t>system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9760132" y="31350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anose="020F0502020204030204" pitchFamily="34" charset="0"/>
              </a:rPr>
              <a:t>Lookup</a:t>
            </a:r>
            <a:endParaRPr lang="en-US" dirty="0">
              <a:latin typeface="Calibri" panose="020F0502020204030204" pitchFamily="34" charset="0"/>
            </a:endParaRPr>
          </a:p>
          <a:p>
            <a:pPr algn="ctr"/>
            <a:r>
              <a:rPr lang="en-US" i="1" dirty="0">
                <a:latin typeface="Calibri" panose="020F0502020204030204" pitchFamily="34" charset="0"/>
              </a:rPr>
              <a:t>components</a:t>
            </a:r>
            <a:endParaRPr lang="en-US" dirty="0">
              <a:latin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</a:rPr>
              <a:t>in library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9760132" y="44304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Calibri" panose="020F0502020204030204" pitchFamily="34" charset="0"/>
              </a:rPr>
              <a:t>Exract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 i="1">
                <a:latin typeface="Calibri" panose="020F0502020204030204" pitchFamily="34" charset="0"/>
              </a:rPr>
              <a:t>components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>
                <a:latin typeface="Calibri" panose="020F0502020204030204" pitchFamily="34" charset="0"/>
              </a:rPr>
              <a:t>if available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8845732" y="5725886"/>
            <a:ext cx="18288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Calibri" panose="020F0502020204030204" pitchFamily="34" charset="0"/>
              </a:rPr>
              <a:t>Build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 i="1">
                <a:latin typeface="Calibri" panose="020F0502020204030204" pitchFamily="34" charset="0"/>
              </a:rPr>
              <a:t>components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>
                <a:latin typeface="Calibri" panose="020F0502020204030204" pitchFamily="34" charset="0"/>
              </a:rPr>
              <a:t>if unavailable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10445932" y="42018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2" name="Line 13"/>
          <p:cNvSpPr>
            <a:spLocks noChangeShapeType="1"/>
          </p:cNvSpPr>
          <p:nvPr/>
        </p:nvSpPr>
        <p:spPr bwMode="auto">
          <a:xfrm>
            <a:off x="10141132" y="2754086"/>
            <a:ext cx="0" cy="3063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>
            <a:off x="10293532" y="54972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 flipV="1">
            <a:off x="9150532" y="54972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 flipV="1">
            <a:off x="8540932" y="4201886"/>
            <a:ext cx="0" cy="183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778932" y="4430486"/>
            <a:ext cx="1524000" cy="85779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>
                <a:latin typeface="Calibri" panose="020F0502020204030204" pitchFamily="34" charset="0"/>
              </a:rPr>
              <a:t>Put new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 i="1">
                <a:latin typeface="Calibri" panose="020F0502020204030204" pitchFamily="34" charset="0"/>
              </a:rPr>
              <a:t>components</a:t>
            </a:r>
            <a:endParaRPr lang="en-US">
              <a:latin typeface="Calibri" panose="020F0502020204030204" pitchFamily="34" charset="0"/>
            </a:endParaRPr>
          </a:p>
          <a:p>
            <a:pPr algn="ctr"/>
            <a:r>
              <a:rPr lang="en-US">
                <a:latin typeface="Calibri" panose="020F0502020204030204" pitchFamily="34" charset="0"/>
              </a:rPr>
              <a:t>in library</a:t>
            </a: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 Scrap/Rework: Use an Iterative Process</a:t>
            </a:r>
            <a:endParaRPr lang="en-US" dirty="0"/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2116184"/>
            <a:ext cx="6631577" cy="420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7733212" y="2246812"/>
            <a:ext cx="3918858" cy="213965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u="sng" dirty="0">
                <a:latin typeface="+mj-lt"/>
              </a:rPr>
              <a:t>Iterative Development</a:t>
            </a:r>
            <a:endParaRPr lang="en-US" sz="2000" u="sng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Products are visible at an early stages of development</a:t>
            </a:r>
            <a:endParaRPr 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Low probability of rework in case of defects in the deliverable product</a:t>
            </a:r>
            <a:endParaRPr lang="en-GB" sz="2200" dirty="0">
              <a:latin typeface="+mj-lt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MS PGothic" panose="020B0600070205080204" pitchFamily="34" charset="-128"/>
              </a:rPr>
              <a:t>R.S. Pressman &amp; Associates, Inc. (2010). </a:t>
            </a:r>
            <a:r>
              <a:rPr lang="en-US" sz="2000" i="1" dirty="0">
                <a:ea typeface="MS PGothic" panose="020B0600070205080204" pitchFamily="34" charset="-128"/>
              </a:rPr>
              <a:t>Software Engineering: A Practitioner’s Approach.</a:t>
            </a:r>
            <a:endParaRPr lang="en-US" sz="2000" i="1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8*497"/>
  <p:tag name="TABLE_ENDDRAG_RECT" val="25*45*918*497"/>
</p:tagLst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5832</Words>
  <Application>WPS Presentation</Application>
  <PresentationFormat>Widescreen</PresentationFormat>
  <Paragraphs>259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Wingdings 2</vt:lpstr>
      <vt:lpstr>Wingdings</vt:lpstr>
      <vt:lpstr>Times New Roman</vt:lpstr>
      <vt:lpstr>Calibri</vt:lpstr>
      <vt:lpstr>Bell MT</vt:lpstr>
      <vt:lpstr>Segoe Print</vt:lpstr>
      <vt:lpstr>MS PGothic</vt:lpstr>
      <vt:lpstr>PMingLiU</vt:lpstr>
      <vt:lpstr>Gill Sans MT</vt:lpstr>
      <vt:lpstr>Microsoft YaHei</vt:lpstr>
      <vt:lpstr>Arial Unicode MS</vt:lpstr>
      <vt:lpstr>MingLiU-ExtB</vt:lpstr>
      <vt:lpstr>Dividend</vt:lpstr>
      <vt:lpstr>PowerPoint 演示文稿</vt:lpstr>
      <vt:lpstr>Software process</vt:lpstr>
      <vt:lpstr>Waterfall model</vt:lpstr>
      <vt:lpstr>PowerPoint 演示文稿</vt:lpstr>
      <vt:lpstr>V - model</vt:lpstr>
      <vt:lpstr>Prototyping model</vt:lpstr>
      <vt:lpstr>Evolutionary development</vt:lpstr>
      <vt:lpstr>Incremental development</vt:lpstr>
      <vt:lpstr>Incremental development</vt:lpstr>
      <vt:lpstr>Rapid Application Development (RAD)</vt:lpstr>
      <vt:lpstr>Component based development model</vt:lpstr>
      <vt:lpstr>Rational Unified Process (RUP)</vt:lpstr>
      <vt:lpstr>Risk profile</vt:lpstr>
      <vt:lpstr>Reduce Scrap/Rework: Use an Iterative Process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creator>M. Mahmudul Hasan</dc:creator>
  <dc:subject>Software Engineering</dc:subject>
  <cp:lastModifiedBy>Teacher</cp:lastModifiedBy>
  <cp:revision>14</cp:revision>
  <dcterms:created xsi:type="dcterms:W3CDTF">2019-05-13T08:37:00Z</dcterms:created>
  <dcterms:modified xsi:type="dcterms:W3CDTF">2025-10-28T02:19:37Z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568BE99098844EF99965AC93A088CC49_12</vt:lpwstr>
  </property>
  <property fmtid="{D5CDD505-2E9C-101B-9397-08002B2CF9AE}" pid="3" name="KSOProductBuildVer">
    <vt:lpwstr>2057-12.2.0.23149</vt:lpwstr>
  </property>
</Properties>
</file>